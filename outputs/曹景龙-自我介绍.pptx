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db1f82f00c4884" /><Relationship Type="http://schemas.openxmlformats.org/officeDocument/2006/relationships/extended-properties" Target="/docProps/app.xml" Id="R69ad230546954d7f" /><Relationship Type="http://schemas.openxmlformats.org/officeDocument/2006/relationships/officeDocument" Target="/ppt/presentation.xml" Id="R6d084cc805c341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45edf4489f4b5b"/>
  </p:sldMasterIdLst>
  <p:notesMasterIdLst>
    <p:notesMasterId xmlns:r="http://schemas.openxmlformats.org/officeDocument/2006/relationships" r:id="Rdd3e896b64184f7c"/>
  </p:notesMasterIdLst>
  <p:sldIdLst>
    <p:sldId xmlns:r="http://schemas.openxmlformats.org/officeDocument/2006/relationships" id="256" r:id="R8d9a038a10594ba2"/>
    <p:sldId xmlns:r="http://schemas.openxmlformats.org/officeDocument/2006/relationships" id="257" r:id="R3977618d87ad42ce"/>
    <p:sldId xmlns:r="http://schemas.openxmlformats.org/officeDocument/2006/relationships" id="258" r:id="Reb0c22fb0e2444ab"/>
    <p:sldId xmlns:r="http://schemas.openxmlformats.org/officeDocument/2006/relationships" id="259" r:id="Rb654d43ab07b4bff"/>
    <p:sldId xmlns:r="http://schemas.openxmlformats.org/officeDocument/2006/relationships" id="260" r:id="Rbb2a2deec08d46be"/>
    <p:sldId xmlns:r="http://schemas.openxmlformats.org/officeDocument/2006/relationships" id="261" r:id="R39b48c77f183497e"/>
    <p:sldId xmlns:r="http://schemas.openxmlformats.org/officeDocument/2006/relationships" id="262" r:id="R50456303f83a422c"/>
    <p:sldId xmlns:r="http://schemas.openxmlformats.org/officeDocument/2006/relationships" id="263" r:id="Reb7738e89f8a4e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037ef2ff674653" /><Relationship Type="http://schemas.openxmlformats.org/officeDocument/2006/relationships/slideMaster" Target="/ppt/slideMasters/slideMaster1.xml" Id="Rae45edf4489f4b5b" /><Relationship Type="http://schemas.openxmlformats.org/officeDocument/2006/relationships/notesMaster" Target="/ppt/notesMasters/notesMaster1.xml" Id="Rdd3e896b64184f7c" /><Relationship Type="http://schemas.openxmlformats.org/officeDocument/2006/relationships/presProps" Target="/ppt/presProps.xml" Id="Recac10109be6453b" /><Relationship Type="http://schemas.openxmlformats.org/officeDocument/2006/relationships/tableStyles" Target="/ppt/tableStyles.xml" Id="R63b60a0e14064ef7" /><Relationship Type="http://schemas.openxmlformats.org/officeDocument/2006/relationships/slide" Target="/ppt/slides/slide1.xml" Id="R8d9a038a10594ba2" /><Relationship Type="http://schemas.openxmlformats.org/officeDocument/2006/relationships/slide" Target="/ppt/slides/slide2.xml" Id="R3977618d87ad42ce" /><Relationship Type="http://schemas.openxmlformats.org/officeDocument/2006/relationships/slide" Target="/ppt/slides/slide3.xml" Id="Reb0c22fb0e2444ab" /><Relationship Type="http://schemas.openxmlformats.org/officeDocument/2006/relationships/slide" Target="/ppt/slides/slide4.xml" Id="Rb654d43ab07b4bff" /><Relationship Type="http://schemas.openxmlformats.org/officeDocument/2006/relationships/slide" Target="/ppt/slides/slide5.xml" Id="Rbb2a2deec08d46be" /><Relationship Type="http://schemas.openxmlformats.org/officeDocument/2006/relationships/slide" Target="/ppt/slides/slide6.xml" Id="R39b48c77f183497e" /><Relationship Type="http://schemas.openxmlformats.org/officeDocument/2006/relationships/slide" Target="/ppt/slides/slide7.xml" Id="R50456303f83a422c" /><Relationship Type="http://schemas.openxmlformats.org/officeDocument/2006/relationships/slide" Target="/ppt/slides/slide8.xml" Id="Reb7738e89f8a4e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3c3ccd85f643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9b5c857e0a4952" /><Relationship Type="http://schemas.openxmlformats.org/officeDocument/2006/relationships/notesMaster" Target="/ppt/notesMasters/notesMaster1.xml" Id="Rf3256c70336e4d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7b490b26594776" /><Relationship Type="http://schemas.openxmlformats.org/officeDocument/2006/relationships/notesMaster" Target="/ppt/notesMasters/notesMaster1.xml" Id="Rcb79a181a43d4a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42d6d1453e463d" /><Relationship Type="http://schemas.openxmlformats.org/officeDocument/2006/relationships/notesMaster" Target="/ppt/notesMasters/notesMaster1.xml" Id="R0b43adb7789144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733d5a791044bd" /><Relationship Type="http://schemas.openxmlformats.org/officeDocument/2006/relationships/notesMaster" Target="/ppt/notesMasters/notesMaster1.xml" Id="R8d3f874f206d42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ca8be271974250" /><Relationship Type="http://schemas.openxmlformats.org/officeDocument/2006/relationships/notesMaster" Target="/ppt/notesMasters/notesMaster1.xml" Id="Rd20f011f4dce42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ea8496f56a4bc9" /><Relationship Type="http://schemas.openxmlformats.org/officeDocument/2006/relationships/notesMaster" Target="/ppt/notesMasters/notesMaster1.xml" Id="R38d91e9dcf4841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3725092cc14aab" /><Relationship Type="http://schemas.openxmlformats.org/officeDocument/2006/relationships/notesMaster" Target="/ppt/notesMasters/notesMaster1.xml" Id="R1397450e28834a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40e49e1b2e449f" /><Relationship Type="http://schemas.openxmlformats.org/officeDocument/2006/relationships/notesMaster" Target="/ppt/notesMasters/notesMaster1.xml" Id="Red0a6e2efb3142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1336547ca43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374aac3a10498d" /><Relationship Type="http://schemas.openxmlformats.org/officeDocument/2006/relationships/slideLayout" Target="/ppt/slideLayouts/slideLayout1.xml" Id="R2cbc273142c84b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bc273142c84b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f98ad06854876" /><Relationship Type="http://schemas.openxmlformats.org/officeDocument/2006/relationships/image" Target="/ppt/media/image.jpeg" Id="Rd5ae5e4de35f4eeb" /><Relationship Type="http://schemas.openxmlformats.org/officeDocument/2006/relationships/notesSlide" Target="/ppt/notesSlides/notesSlide1.xml" Id="R09076db76fb640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c9609448f4aa8" /><Relationship Type="http://schemas.openxmlformats.org/officeDocument/2006/relationships/notesSlide" Target="/ppt/notesSlides/notesSlide2.xml" Id="R8ccc38f0bd9a43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802c86496418f" /><Relationship Type="http://schemas.openxmlformats.org/officeDocument/2006/relationships/notesSlide" Target="/ppt/notesSlides/notesSlide3.xml" Id="R20aabc0ab9474c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a81a7ed1444a1" /><Relationship Type="http://schemas.openxmlformats.org/officeDocument/2006/relationships/notesSlide" Target="/ppt/notesSlides/notesSlide4.xml" Id="R6b59b48a603345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bce543c5748e1" /><Relationship Type="http://schemas.openxmlformats.org/officeDocument/2006/relationships/notesSlide" Target="/ppt/notesSlides/notesSlide5.xml" Id="R6d76281dea3247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e395ec63d450a" /><Relationship Type="http://schemas.openxmlformats.org/officeDocument/2006/relationships/notesSlide" Target="/ppt/notesSlides/notesSlide6.xml" Id="R7d658762a26a4c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1260d9e114cc8" /><Relationship Type="http://schemas.openxmlformats.org/officeDocument/2006/relationships/notesSlide" Target="/ppt/notesSlides/notesSlide7.xml" Id="R6c013af74de24a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cea7d8b0f40fa" /><Relationship Type="http://schemas.openxmlformats.org/officeDocument/2006/relationships/notesSlide" Target="/ppt/notesSlides/notesSlide8.xml" Id="R2f2336f64ca34e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6135C6D-A7F0-482D-B5E1-AF956EA1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SELF INTRODUCTION · 2026</a:t>
            </a:r>
          </a:p>
        </p:txBody>
      </p:sp>
      <p:sp>
        <p:nvSpPr>
          <p:cNvPr id="2" name="cover-name">
            <a:extLst xmlns:a="http://schemas.openxmlformats.org/drawingml/2006/main">
              <a:ext uri="{FF2B5EF4-FFF2-40B4-BE49-F238E27FC236}">
                <a16:creationId xmlns:a16="http://schemas.microsoft.com/office/drawing/2014/main" id="{332E0630-82C0-40C2-A989-39A61011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600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曹景龙</a:t>
            </a:r>
          </a:p>
        </p:txBody>
      </p:sp>
      <p:sp>
        <p:nvSpPr>
          <p:cNvPr id="3" name="cover-role">
            <a:extLst xmlns:a="http://schemas.openxmlformats.org/drawingml/2006/main">
              <a:ext uri="{FF2B5EF4-FFF2-40B4-BE49-F238E27FC236}">
                <a16:creationId xmlns:a16="http://schemas.microsoft.com/office/drawing/2014/main" id="{AAA12095-C601-40AE-9E0C-F42FD4D8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C++ 开发工程师</a:t>
            </a:r>
          </a:p>
        </p:txBody>
      </p:sp>
      <p:sp>
        <p:nvSpPr>
          <p:cNvPr id="4" name="cover-claim">
            <a:extLst xmlns:a="http://schemas.openxmlformats.org/drawingml/2006/main">
              <a:ext uri="{FF2B5EF4-FFF2-40B4-BE49-F238E27FC236}">
                <a16:creationId xmlns:a16="http://schemas.microsoft.com/office/drawing/2014/main" id="{DA1DEB17-D711-4CB7-85ED-BF398033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628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以高性能网络与系统工程为主线，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把协议、算法与工程部署连接起来</a:t>
            </a:r>
          </a:p>
        </p:txBody>
      </p:sp>
      <p:sp>
        <p:nvSpPr>
          <p:cNvPr id="5" name="cover-keywords">
            <a:extLst xmlns:a="http://schemas.openxmlformats.org/drawingml/2006/main">
              <a:ext uri="{FF2B5EF4-FFF2-40B4-BE49-F238E27FC236}">
                <a16:creationId xmlns:a16="http://schemas.microsoft.com/office/drawing/2014/main" id="{6136FC0B-05BC-4119-8E16-23304599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卫星网络  ·  Linux 网络栈  ·  ROS 2  ·  计算机视觉</a:t>
            </a:r>
          </a:p>
        </p:txBody>
      </p:sp>
      <p:sp>
        <p:nvSpPr>
          <p:cNvPr id="6" name="cover-contact">
            <a:extLst xmlns:a="http://schemas.openxmlformats.org/drawingml/2006/main">
              <a:ext uri="{FF2B5EF4-FFF2-40B4-BE49-F238E27FC236}">
                <a16:creationId xmlns:a16="http://schemas.microsoft.com/office/drawing/2014/main" id="{C22F253E-0D2F-4EA2-83B3-85AC0A4A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15652587396   |   cjl199811@163.com   |   哈尔滨</a:t>
            </a:r>
          </a:p>
        </p:txBody>
      </p:sp>
      <p:sp>
        <p:nvSpPr>
          <p:cNvPr id="7" name="portrait-backing">
            <a:extLst xmlns:a="http://schemas.openxmlformats.org/drawingml/2006/main">
              <a:ext uri="{FF2B5EF4-FFF2-40B4-BE49-F238E27FC236}">
                <a16:creationId xmlns:a16="http://schemas.microsoft.com/office/drawing/2014/main" id="{7C45881A-660E-4382-83A3-C01430D2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42950"/>
            <a:ext cx="32194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e5e4de35f4eeb"/>
          <a:stretch xmlns:a="http://schemas.openxmlformats.org/drawingml/2006/main"/>
        </p:blipFill>
        <p:spPr>
          <a:xfrm xmlns:a="http://schemas.openxmlformats.org/drawingml/2006/main">
            <a:off x="8493875" y="1104900"/>
            <a:ext cx="2195600" cy="3067050"/>
          </a:xfrm>
          <a:prstGeom xmlns:a="http://schemas.openxmlformats.org/drawingml/2006/main" prst="rect">
            <a:avLst/>
          </a:prstGeom>
        </p:spPr>
      </p:pic>
      <p:sp>
        <p:nvSpPr>
          <p:cNvPr id="9" name="portrait-caption">
            <a:extLst xmlns:a="http://schemas.openxmlformats.org/drawingml/2006/main">
              <a:ext uri="{FF2B5EF4-FFF2-40B4-BE49-F238E27FC236}">
                <a16:creationId xmlns:a16="http://schemas.microsoft.com/office/drawing/2014/main" id="{4EFCA73C-0E88-4660-AE37-38F1AF8D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148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北京航空航天大学 硕士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中国空间技术研究院 · 卫星网络工程师</a:t>
            </a:r>
          </a:p>
        </p:txBody>
      </p:sp>
    </p:spTree>
    <p:extLst>
      <p:ext uri="{BB962C8B-B14F-4D97-AF65-F5344CB8AC3E}">
        <p14:creationId xmlns:p14="http://schemas.microsoft.com/office/powerpoint/2010/main" val="1249492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AF739FA-9D4C-468B-A68A-8B152AB3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用系统工程方法解决高性能网络问题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528DBB46-4A35-4B08-A576-1DE7DEE6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s2-lead">
            <a:extLst xmlns:a="http://schemas.openxmlformats.org/drawingml/2006/main">
              <a:ext uri="{FF2B5EF4-FFF2-40B4-BE49-F238E27FC236}">
                <a16:creationId xmlns:a16="http://schemas.microsoft.com/office/drawing/2014/main" id="{69B7E6CE-264C-4EDF-9B65-5579B6F0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我的核心优势不是单点技术，而是把协议设计、Linux 网络实现与验证平台打通。</a:t>
            </a:r>
          </a:p>
        </p:txBody>
      </p:sp>
      <p:sp>
        <p:nvSpPr>
          <p:cNvPr id="4" name="s2-sublead">
            <a:extLst xmlns:a="http://schemas.openxmlformats.org/drawingml/2006/main">
              <a:ext uri="{FF2B5EF4-FFF2-40B4-BE49-F238E27FC236}">
                <a16:creationId xmlns:a16="http://schemas.microsoft.com/office/drawing/2014/main" id="{8B83D1AD-CEA0-4F1A-9E5B-70410119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以下指标均来自已完成或正在地面验证的项目。</a:t>
            </a:r>
          </a:p>
        </p:txBody>
      </p:sp>
      <p:sp>
        <p:nvSpPr>
          <p:cNvPr id="5" name="s2-metric-1-panel">
            <a:extLst xmlns:a="http://schemas.openxmlformats.org/drawingml/2006/main">
              <a:ext uri="{FF2B5EF4-FFF2-40B4-BE49-F238E27FC236}">
                <a16:creationId xmlns:a16="http://schemas.microsoft.com/office/drawing/2014/main" id="{0639DD13-98B3-4531-8AE6-1458E16E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3524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-metric-1-value">
            <a:extLst xmlns:a="http://schemas.openxmlformats.org/drawingml/2006/main">
              <a:ext uri="{FF2B5EF4-FFF2-40B4-BE49-F238E27FC236}">
                <a16:creationId xmlns:a16="http://schemas.microsoft.com/office/drawing/2014/main" id="{5B116A32-059E-4BB9-9D2C-7B10F2B0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2876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100+</a:t>
            </a:r>
          </a:p>
        </p:txBody>
      </p:sp>
      <p:sp>
        <p:nvSpPr>
          <p:cNvPr id="7" name="s2-metric-1-label">
            <a:extLst xmlns:a="http://schemas.openxmlformats.org/drawingml/2006/main">
              <a:ext uri="{FF2B5EF4-FFF2-40B4-BE49-F238E27FC236}">
                <a16:creationId xmlns:a16="http://schemas.microsoft.com/office/drawing/2014/main" id="{AF82EC93-2CDB-493E-A9F0-7020EF51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容器实例 / 单服务器</a:t>
            </a:r>
          </a:p>
        </p:txBody>
      </p:sp>
      <p:sp>
        <p:nvSpPr>
          <p:cNvPr id="8" name="s2-metric-1-detail">
            <a:extLst xmlns:a="http://schemas.openxmlformats.org/drawingml/2006/main">
              <a:ext uri="{FF2B5EF4-FFF2-40B4-BE49-F238E27FC236}">
                <a16:creationId xmlns:a16="http://schemas.microsoft.com/office/drawing/2014/main" id="{5D5F58B0-2DA8-46C4-9E15-B04021A7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Namespace 隔离，veth + OVS 通信，eBPF 采集链路指标</a:t>
            </a:r>
          </a:p>
        </p:txBody>
      </p:sp>
      <p:sp>
        <p:nvSpPr>
          <p:cNvPr id="9" name="s2-metric-2-panel">
            <a:extLst xmlns:a="http://schemas.openxmlformats.org/drawingml/2006/main">
              <a:ext uri="{FF2B5EF4-FFF2-40B4-BE49-F238E27FC236}">
                <a16:creationId xmlns:a16="http://schemas.microsoft.com/office/drawing/2014/main" id="{90B803F8-BA45-439C-9719-73AA9835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3524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2-metric-2-value">
            <a:extLst xmlns:a="http://schemas.openxmlformats.org/drawingml/2006/main">
              <a:ext uri="{FF2B5EF4-FFF2-40B4-BE49-F238E27FC236}">
                <a16:creationId xmlns:a16="http://schemas.microsoft.com/office/drawing/2014/main" id="{4C9356FC-D8A1-4735-9682-51310C97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24250"/>
            <a:ext cx="2876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μs 级</a:t>
            </a:r>
          </a:p>
        </p:txBody>
      </p:sp>
      <p:sp>
        <p:nvSpPr>
          <p:cNvPr id="11" name="s2-metric-2-label">
            <a:extLst xmlns:a="http://schemas.openxmlformats.org/drawingml/2006/main">
              <a:ext uri="{FF2B5EF4-FFF2-40B4-BE49-F238E27FC236}">
                <a16:creationId xmlns:a16="http://schemas.microsoft.com/office/drawing/2014/main" id="{99E483FB-4957-4D24-8E40-8861AFF9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767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确定性处理转发</a:t>
            </a:r>
          </a:p>
        </p:txBody>
      </p:sp>
      <p:sp>
        <p:nvSpPr>
          <p:cNvPr id="12" name="s2-metric-2-detail">
            <a:extLst xmlns:a="http://schemas.openxmlformats.org/drawingml/2006/main">
              <a:ext uri="{FF2B5EF4-FFF2-40B4-BE49-F238E27FC236}">
                <a16:creationId xmlns:a16="http://schemas.microsoft.com/office/drawing/2014/main" id="{0BCEAAEC-CCF9-44CB-AAC3-9275545F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000625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动态 QoS 策略保障高优先级信息的微秒级转发</a:t>
            </a:r>
          </a:p>
        </p:txBody>
      </p:sp>
      <p:sp>
        <p:nvSpPr>
          <p:cNvPr id="13" name="s2-metric-3-panel">
            <a:extLst xmlns:a="http://schemas.openxmlformats.org/drawingml/2006/main">
              <a:ext uri="{FF2B5EF4-FFF2-40B4-BE49-F238E27FC236}">
                <a16:creationId xmlns:a16="http://schemas.microsoft.com/office/drawing/2014/main" id="{42CF582A-B526-4345-B441-A6892CE6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3524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2-metric-3-value">
            <a:extLst xmlns:a="http://schemas.openxmlformats.org/drawingml/2006/main">
              <a:ext uri="{FF2B5EF4-FFF2-40B4-BE49-F238E27FC236}">
                <a16:creationId xmlns:a16="http://schemas.microsoft.com/office/drawing/2014/main" id="{11E75614-A583-4730-920B-B7B40347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2876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≥10 Gbps</a:t>
            </a:r>
          </a:p>
        </p:txBody>
      </p:sp>
      <p:sp>
        <p:nvSpPr>
          <p:cNvPr id="15" name="s2-metric-3-label">
            <a:extLst xmlns:a="http://schemas.openxmlformats.org/drawingml/2006/main">
              <a:ext uri="{FF2B5EF4-FFF2-40B4-BE49-F238E27FC236}">
                <a16:creationId xmlns:a16="http://schemas.microsoft.com/office/drawing/2014/main" id="{BB43D9FC-3E79-4448-A206-23053AF7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767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新一代卫星信息总线</a:t>
            </a:r>
          </a:p>
        </p:txBody>
      </p:sp>
      <p:sp>
        <p:nvSpPr>
          <p:cNvPr id="16" name="s2-metric-3-detail">
            <a:extLst xmlns:a="http://schemas.openxmlformats.org/drawingml/2006/main">
              <a:ext uri="{FF2B5EF4-FFF2-40B4-BE49-F238E27FC236}">
                <a16:creationId xmlns:a16="http://schemas.microsoft.com/office/drawing/2014/main" id="{6AA2DEE4-AA41-49CB-A4C9-26C0A343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00625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CAN、TSN 与 DDS 分层承载控制数据与高速图像数据</a:t>
            </a:r>
          </a:p>
        </p:txBody>
      </p:sp>
    </p:spTree>
    <p:extLst>
      <p:ext uri="{BB962C8B-B14F-4D97-AF65-F5344CB8AC3E}">
        <p14:creationId xmlns:p14="http://schemas.microsoft.com/office/powerpoint/2010/main" val="4384956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70EC978-6B52-4F1E-8AB5-78B6E032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从控制工程到卫星网络研发，技术主线持续收敛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052037D6-BEC5-4B66-ABE9-8ED6BAD2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cxnSp>
        <p:nvCxnSpPr>
          <p:cNvPr id="23" name="timeline-line"/>
          <p:cNvCxnSpPr/>
          <p:nvPr/>
        </p:nvCxnSpPr>
        <p:spPr>
          <a:xfrm xmlns:a="http://schemas.openxmlformats.org/drawingml/2006/main">
            <a:off x="723900" y="2933700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4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AFCA94A9-D971-4AD6-B065-55134A52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meline-date-0">
            <a:extLst xmlns:a="http://schemas.openxmlformats.org/drawingml/2006/main">
              <a:ext uri="{FF2B5EF4-FFF2-40B4-BE49-F238E27FC236}">
                <a16:creationId xmlns:a16="http://schemas.microsoft.com/office/drawing/2014/main" id="{62091B66-D264-4124-A47A-BE631B45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2016–2020</a:t>
            </a:r>
          </a:p>
        </p:txBody>
      </p:sp>
      <p:sp>
        <p:nvSpPr>
          <p:cNvPr id="6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2F57ED26-BA47-4B8B-AB7D-7AE7102B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北航 · 本科</a:t>
            </a:r>
          </a:p>
        </p:txBody>
      </p:sp>
      <p:sp>
        <p:nvSpPr>
          <p:cNvPr id="7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646F62E2-EF29-440E-8EA4-3878FF36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19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机械电子工程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GPA 3.70</a:t>
            </a:r>
          </a:p>
        </p:txBody>
      </p:sp>
      <p:sp>
        <p:nvSpPr>
          <p:cNvPr id="8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EC8881E9-87EA-432D-B7ED-7B7397D5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38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meline-date-1">
            <a:extLst xmlns:a="http://schemas.openxmlformats.org/drawingml/2006/main">
              <a:ext uri="{FF2B5EF4-FFF2-40B4-BE49-F238E27FC236}">
                <a16:creationId xmlns:a16="http://schemas.microsoft.com/office/drawing/2014/main" id="{7D65DC73-794C-485A-BD36-582CB9ED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431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2020–2023</a:t>
            </a:r>
          </a:p>
        </p:txBody>
      </p:sp>
      <p:sp>
        <p:nvSpPr>
          <p:cNvPr id="10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CBF1D6D0-64FB-4B71-9A5F-151B965A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北航 · 硕士</a:t>
            </a:r>
          </a:p>
        </p:txBody>
      </p:sp>
      <p:sp>
        <p:nvSpPr>
          <p:cNvPr id="11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506B232C-B1C7-4F62-8E3F-5794CAA3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29050"/>
            <a:ext cx="219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控制工程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GPA 3.68</a:t>
            </a:r>
          </a:p>
        </p:txBody>
      </p:sp>
      <p:sp>
        <p:nvSpPr>
          <p:cNvPr id="12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E1A8B8A0-72E8-43B2-8742-5F6480D0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38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meline-date-2">
            <a:extLst xmlns:a="http://schemas.openxmlformats.org/drawingml/2006/main">
              <a:ext uri="{FF2B5EF4-FFF2-40B4-BE49-F238E27FC236}">
                <a16:creationId xmlns:a16="http://schemas.microsoft.com/office/drawing/2014/main" id="{D04C47A2-DC70-4CEC-9EF7-DF5CB8B8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431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2021–2022</a:t>
            </a:r>
          </a:p>
        </p:txBody>
      </p:sp>
      <p:sp>
        <p:nvSpPr>
          <p:cNvPr id="14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FD0A70AB-B58F-4AE8-AC25-9B568973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33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算法与网关实习</a:t>
            </a:r>
          </a:p>
        </p:txBody>
      </p:sp>
      <p:sp>
        <p:nvSpPr>
          <p:cNvPr id="15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7CAC4A58-F3B4-4E09-A5B4-D87D30F1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29050"/>
            <a:ext cx="219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快手：视频分类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中信建投：APISIX</a:t>
            </a:r>
          </a:p>
        </p:txBody>
      </p:sp>
      <p:sp>
        <p:nvSpPr>
          <p:cNvPr id="16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8C7B7787-7B57-4719-BF5D-44A00DF4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38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line-date-3">
            <a:extLst xmlns:a="http://schemas.openxmlformats.org/drawingml/2006/main">
              <a:ext uri="{FF2B5EF4-FFF2-40B4-BE49-F238E27FC236}">
                <a16:creationId xmlns:a16="http://schemas.microsoft.com/office/drawing/2014/main" id="{DFB20E41-0DD1-45AA-ACFF-BE82FB03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431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2023–至今</a:t>
            </a:r>
          </a:p>
        </p:txBody>
      </p:sp>
      <p:sp>
        <p:nvSpPr>
          <p:cNvPr id="18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20E88458-7C0C-4F41-8EE8-CA885D55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卫星网络工程师</a:t>
            </a:r>
          </a:p>
        </p:txBody>
      </p:sp>
      <p:sp>
        <p:nvSpPr>
          <p:cNvPr id="19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943E9F38-66FF-4335-912E-3AEAB67B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29050"/>
            <a:ext cx="219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高性能路由器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网络仿真与总线架构</a:t>
            </a:r>
          </a:p>
        </p:txBody>
      </p:sp>
      <p:sp>
        <p:nvSpPr>
          <p:cNvPr id="20" name="timeline-bottom">
            <a:extLst xmlns:a="http://schemas.openxmlformats.org/drawingml/2006/main">
              <a:ext uri="{FF2B5EF4-FFF2-40B4-BE49-F238E27FC236}">
                <a16:creationId xmlns:a16="http://schemas.microsoft.com/office/drawing/2014/main" id="{C03F2BE2-44E8-4B18-8214-9ACBE633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1020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主线演进：算法研究 → 系统软件 → 网络协议 → 高性能网络工程</a:t>
            </a:r>
          </a:p>
        </p:txBody>
      </p:sp>
    </p:spTree>
    <p:extLst>
      <p:ext uri="{BB962C8B-B14F-4D97-AF65-F5344CB8AC3E}">
        <p14:creationId xmlns:p14="http://schemas.microsoft.com/office/powerpoint/2010/main" val="6680767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C40371A5-7D24-4376-985A-11D7C252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把卫星网络问题落到可验证的系统实现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E46308AF-6B1D-4D08-A39B-69EB686B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s4-role">
            <a:extLst xmlns:a="http://schemas.openxmlformats.org/drawingml/2006/main">
              <a:ext uri="{FF2B5EF4-FFF2-40B4-BE49-F238E27FC236}">
                <a16:creationId xmlns:a16="http://schemas.microsoft.com/office/drawing/2014/main" id="{3EB6CA72-C71F-4B0C-B8DE-E8CC860F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中国空间技术研究院 · 卫星网络工程师</a:t>
            </a:r>
          </a:p>
        </p:txBody>
      </p:sp>
      <p:sp>
        <p:nvSpPr>
          <p:cNvPr id="4" name="s4-claim">
            <a:extLst xmlns:a="http://schemas.openxmlformats.org/drawingml/2006/main">
              <a:ext uri="{FF2B5EF4-FFF2-40B4-BE49-F238E27FC236}">
                <a16:creationId xmlns:a16="http://schemas.microsoft.com/office/drawing/2014/main" id="{4EF3998B-3AC6-4F26-979C-8163F51F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5286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围绕动态拓扑、异构协议与实时可靠传输，完成从路由算法到地面验证的工程闭环。</a:t>
            </a:r>
          </a:p>
        </p:txBody>
      </p:sp>
      <p:sp>
        <p:nvSpPr>
          <p:cNvPr id="5" name="s4-bullets">
            <a:extLst xmlns:a="http://schemas.openxmlformats.org/drawingml/2006/main">
              <a:ext uri="{FF2B5EF4-FFF2-40B4-BE49-F238E27FC236}">
                <a16:creationId xmlns:a16="http://schemas.microsoft.com/office/drawing/2014/main" id="{C2232490-F63B-4C41-847B-43398D86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05100"/>
            <a:ext cx="5286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基于 OSPFv2 裁剪 LSA 通告，适配卫星动态环境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实现 IP、AOS 链路帧与总线协议转换网关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动态 QoS 保障高优先级信息确定性微秒级处理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参与 CAN / TSN / DDS 新一代信息总线设计</a:t>
            </a:r>
          </a:p>
        </p:txBody>
      </p:sp>
      <p:sp>
        <p:nvSpPr>
          <p:cNvPr id="6" name="s4-status">
            <a:extLst xmlns:a="http://schemas.openxmlformats.org/drawingml/2006/main">
              <a:ext uri="{FF2B5EF4-FFF2-40B4-BE49-F238E27FC236}">
                <a16:creationId xmlns:a16="http://schemas.microsoft.com/office/drawing/2014/main" id="{EE9DAF30-4A13-4456-8EFA-B3FF7D7F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产品已完成研制与地面验证</a:t>
            </a:r>
          </a:p>
        </p:txBody>
      </p:sp>
      <p:cxnSp>
        <p:nvCxnSpPr>
          <p:cNvPr id="25" name="s4-conn-1"/>
          <p:cNvCxnSpPr/>
          <p:nvPr/>
        </p:nvCxnSpPr>
        <p:spPr>
          <a:xfrm xmlns:a="http://schemas.openxmlformats.org/drawingml/2006/main">
            <a:off x="7067550" y="209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6" name="s4-conn-2"/>
          <p:cNvCxnSpPr/>
          <p:nvPr/>
        </p:nvCxnSpPr>
        <p:spPr>
          <a:xfrm xmlns:a="http://schemas.openxmlformats.org/drawingml/2006/main">
            <a:off x="8782050" y="209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9" name="s4-node-0">
            <a:extLst xmlns:a="http://schemas.openxmlformats.org/drawingml/2006/main">
              <a:ext uri="{FF2B5EF4-FFF2-40B4-BE49-F238E27FC236}">
                <a16:creationId xmlns:a16="http://schemas.microsoft.com/office/drawing/2014/main" id="{494078D4-0ADA-47BF-9262-43EA2C87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4-node-text-0">
            <a:extLst xmlns:a="http://schemas.openxmlformats.org/drawingml/2006/main">
              <a:ext uri="{FF2B5EF4-FFF2-40B4-BE49-F238E27FC236}">
                <a16:creationId xmlns:a16="http://schemas.microsoft.com/office/drawing/2014/main" id="{151DB0C3-3B7A-4D7A-B37C-D3BDC317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IP / OSPFv2</a:t>
            </a:r>
          </a:p>
        </p:txBody>
      </p:sp>
      <p:sp>
        <p:nvSpPr>
          <p:cNvPr id="11" name="s4-node-1">
            <a:extLst xmlns:a="http://schemas.openxmlformats.org/drawingml/2006/main">
              <a:ext uri="{FF2B5EF4-FFF2-40B4-BE49-F238E27FC236}">
                <a16:creationId xmlns:a16="http://schemas.microsoft.com/office/drawing/2014/main" id="{91B78331-72FE-4CDA-8810-CBE93D36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573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4-node-text-1">
            <a:extLst xmlns:a="http://schemas.openxmlformats.org/drawingml/2006/main">
              <a:ext uri="{FF2B5EF4-FFF2-40B4-BE49-F238E27FC236}">
                <a16:creationId xmlns:a16="http://schemas.microsoft.com/office/drawing/2014/main" id="{DCF1B717-7870-4570-B89F-6E95ACD2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40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AOS 链路帧</a:t>
            </a:r>
          </a:p>
        </p:txBody>
      </p:sp>
      <p:sp>
        <p:nvSpPr>
          <p:cNvPr id="13" name="s4-node-2">
            <a:extLst xmlns:a="http://schemas.openxmlformats.org/drawingml/2006/main">
              <a:ext uri="{FF2B5EF4-FFF2-40B4-BE49-F238E27FC236}">
                <a16:creationId xmlns:a16="http://schemas.microsoft.com/office/drawing/2014/main" id="{AAF722BC-379C-41A2-868E-0B6A6B73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573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s4-node-text-2">
            <a:extLst xmlns:a="http://schemas.openxmlformats.org/drawingml/2006/main">
              <a:ext uri="{FF2B5EF4-FFF2-40B4-BE49-F238E27FC236}">
                <a16:creationId xmlns:a16="http://schemas.microsoft.com/office/drawing/2014/main" id="{743C9873-5B0E-433A-B185-6D201764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240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CAN / TSN / DDS</a:t>
            </a:r>
          </a:p>
        </p:txBody>
      </p:sp>
      <p:sp>
        <p:nvSpPr>
          <p:cNvPr id="15" name="s4-photo-frame">
            <a:extLst xmlns:a="http://schemas.openxmlformats.org/drawingml/2006/main">
              <a:ext uri="{FF2B5EF4-FFF2-40B4-BE49-F238E27FC236}">
                <a16:creationId xmlns:a16="http://schemas.microsoft.com/office/drawing/2014/main" id="{61A07E42-EDBA-4E29-85E1-7A291704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67050"/>
            <a:ext cx="5010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6" name="s4-photo-band">
            <a:extLst xmlns:a="http://schemas.openxmlformats.org/drawingml/2006/main">
              <a:ext uri="{FF2B5EF4-FFF2-40B4-BE49-F238E27FC236}">
                <a16:creationId xmlns:a16="http://schemas.microsoft.com/office/drawing/2014/main" id="{53A84C57-8C40-44AE-A8B8-84F056CB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67050"/>
            <a:ext cx="501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4-photo-title">
            <a:extLst xmlns:a="http://schemas.openxmlformats.org/drawingml/2006/main">
              <a:ext uri="{FF2B5EF4-FFF2-40B4-BE49-F238E27FC236}">
                <a16:creationId xmlns:a16="http://schemas.microsoft.com/office/drawing/2014/main" id="{96C4B4F4-4AC4-49D9-A273-4822E5D3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项目图片占位</a:t>
            </a:r>
          </a:p>
        </p:txBody>
      </p:sp>
      <p:sp>
        <p:nvSpPr>
          <p:cNvPr id="18" name="s4-photo-hint">
            <a:extLst xmlns:a="http://schemas.openxmlformats.org/drawingml/2006/main">
              <a:ext uri="{FF2B5EF4-FFF2-40B4-BE49-F238E27FC236}">
                <a16:creationId xmlns:a16="http://schemas.microsoft.com/office/drawing/2014/main" id="{6AF8269E-923F-46DC-A878-62D7EC78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76650"/>
            <a:ext cx="45529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建议补充：卫星高性能路由器实物、</a:t>
            </a:r>
          </a:p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测试台或地面验证现场照片</a:t>
            </a:r>
          </a:p>
        </p:txBody>
      </p:sp>
    </p:spTree>
    <p:extLst>
      <p:ext uri="{BB962C8B-B14F-4D97-AF65-F5344CB8AC3E}">
        <p14:creationId xmlns:p14="http://schemas.microsoft.com/office/powerpoint/2010/main" val="9964792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C41F3AAC-8A01-4D8B-8FDD-4325FC11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单机承载 100+ 节点的容器化网络仿真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40CC78CE-CBBC-4112-A5C4-BBC87CC3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s5-lead">
            <a:extLst xmlns:a="http://schemas.openxmlformats.org/drawingml/2006/main">
              <a:ext uri="{FF2B5EF4-FFF2-40B4-BE49-F238E27FC236}">
                <a16:creationId xmlns:a16="http://schemas.microsoft.com/office/drawing/2014/main" id="{C32BFA9D-75EC-49C7-9CA9-8465FD20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以轻量级容器隔离和可观测网络链路，支撑卫星网络方案论证与设计。</a:t>
            </a:r>
          </a:p>
        </p:txBody>
      </p:sp>
      <p:sp>
        <p:nvSpPr>
          <p:cNvPr id="4" name="s5-stack">
            <a:extLst xmlns:a="http://schemas.openxmlformats.org/drawingml/2006/main">
              <a:ext uri="{FF2B5EF4-FFF2-40B4-BE49-F238E27FC236}">
                <a16:creationId xmlns:a16="http://schemas.microsoft.com/office/drawing/2014/main" id="{0AB76F22-E1C4-4B42-909F-77215F7C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71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核心技术组合</a:t>
            </a:r>
          </a:p>
        </p:txBody>
      </p:sp>
      <p:sp>
        <p:nvSpPr>
          <p:cNvPr id="5" name="s5-bullets">
            <a:extLst xmlns:a="http://schemas.openxmlformats.org/drawingml/2006/main">
              <a:ext uri="{FF2B5EF4-FFF2-40B4-BE49-F238E27FC236}">
                <a16:creationId xmlns:a16="http://schemas.microsoft.com/office/drawing/2014/main" id="{542406E6-CA99-4DEC-A30A-841C610A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5286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Linux Network Namespace：协议栈隔离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veth + Open vSwitch：容器间通信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eBPF：链路时延与速率采集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raw Socket / TCP / UDP：业务流封装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FRR Router + FastDDS：路由交互与外部数据输入</a:t>
            </a:r>
          </a:p>
        </p:txBody>
      </p:sp>
      <p:sp>
        <p:nvSpPr>
          <p:cNvPr id="6" name="s5-metric-panel">
            <a:extLst xmlns:a="http://schemas.openxmlformats.org/drawingml/2006/main">
              <a:ext uri="{FF2B5EF4-FFF2-40B4-BE49-F238E27FC236}">
                <a16:creationId xmlns:a16="http://schemas.microsoft.com/office/drawing/2014/main" id="{2BA604D8-293C-4BEB-A850-920AE5A4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72050"/>
            <a:ext cx="5286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5-metric">
            <a:extLst xmlns:a="http://schemas.openxmlformats.org/drawingml/2006/main">
              <a:ext uri="{FF2B5EF4-FFF2-40B4-BE49-F238E27FC236}">
                <a16:creationId xmlns:a16="http://schemas.microsoft.com/office/drawing/2014/main" id="{417081DB-D0A1-44BF-88EE-2AD0F532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100+</a:t>
            </a:r>
          </a:p>
        </p:txBody>
      </p:sp>
      <p:sp>
        <p:nvSpPr>
          <p:cNvPr id="8" name="s5-metric-label">
            <a:extLst xmlns:a="http://schemas.openxmlformats.org/drawingml/2006/main">
              <a:ext uri="{FF2B5EF4-FFF2-40B4-BE49-F238E27FC236}">
                <a16:creationId xmlns:a16="http://schemas.microsoft.com/office/drawing/2014/main" id="{C2AC4D0D-D52F-4461-B27F-2032E891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006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容器实例并行运行 / 单服务器</a:t>
            </a:r>
          </a:p>
        </p:txBody>
      </p:sp>
      <p:sp>
        <p:nvSpPr>
          <p:cNvPr id="9" name="s5-screen-frame">
            <a:extLst xmlns:a="http://schemas.openxmlformats.org/drawingml/2006/main">
              <a:ext uri="{FF2B5EF4-FFF2-40B4-BE49-F238E27FC236}">
                <a16:creationId xmlns:a16="http://schemas.microsoft.com/office/drawing/2014/main" id="{DEF779A1-836D-4716-8355-8B82EC2D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00150"/>
            <a:ext cx="51435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s5-screen-band">
            <a:extLst xmlns:a="http://schemas.openxmlformats.org/drawingml/2006/main">
              <a:ext uri="{FF2B5EF4-FFF2-40B4-BE49-F238E27FC236}">
                <a16:creationId xmlns:a16="http://schemas.microsoft.com/office/drawing/2014/main" id="{A945ED12-1E9F-4555-AD23-80BF19A2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001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5-screen-title">
            <a:extLst xmlns:a="http://schemas.openxmlformats.org/drawingml/2006/main">
              <a:ext uri="{FF2B5EF4-FFF2-40B4-BE49-F238E27FC236}">
                <a16:creationId xmlns:a16="http://schemas.microsoft.com/office/drawing/2014/main" id="{B3BD86ED-97E4-4844-8405-B1468DC0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285875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平台截图占位</a:t>
            </a:r>
          </a:p>
        </p:txBody>
      </p:sp>
      <p:sp>
        <p:nvSpPr>
          <p:cNvPr id="12" name="s5-screen-hint">
            <a:extLst xmlns:a="http://schemas.openxmlformats.org/drawingml/2006/main">
              <a:ext uri="{FF2B5EF4-FFF2-40B4-BE49-F238E27FC236}">
                <a16:creationId xmlns:a16="http://schemas.microsoft.com/office/drawing/2014/main" id="{2A2383AC-2AC1-4CD6-A7A6-9D44F9A9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46863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建议补充：容器拓扑、OVS 连接关系、</a:t>
            </a:r>
          </a:p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eBPF 指标面板或仿真运行界面</a:t>
            </a:r>
          </a:p>
        </p:txBody>
      </p:sp>
    </p:spTree>
    <p:extLst>
      <p:ext uri="{BB962C8B-B14F-4D97-AF65-F5344CB8AC3E}">
        <p14:creationId xmlns:p14="http://schemas.microsoft.com/office/powerpoint/2010/main" val="961748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B325522D-620A-4852-A41A-71C442B1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项目跨度覆盖机器人、视觉与嵌入式系统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81CD119D-3710-493D-A286-80326493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s6-ros-image-frame">
            <a:extLst xmlns:a="http://schemas.openxmlformats.org/drawingml/2006/main">
              <a:ext uri="{FF2B5EF4-FFF2-40B4-BE49-F238E27FC236}">
                <a16:creationId xmlns:a16="http://schemas.microsoft.com/office/drawing/2014/main" id="{FED86F92-B89F-4D3D-A3E1-C3E764DB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34671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4" name="s6-ros-image-band">
            <a:extLst xmlns:a="http://schemas.openxmlformats.org/drawingml/2006/main">
              <a:ext uri="{FF2B5EF4-FFF2-40B4-BE49-F238E27FC236}">
                <a16:creationId xmlns:a16="http://schemas.microsoft.com/office/drawing/2014/main" id="{EC604B62-2E3A-4483-A333-E04157AA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346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ros-image-title">
            <a:extLst xmlns:a="http://schemas.openxmlformats.org/drawingml/2006/main">
              <a:ext uri="{FF2B5EF4-FFF2-40B4-BE49-F238E27FC236}">
                <a16:creationId xmlns:a16="http://schemas.microsoft.com/office/drawing/2014/main" id="{F2C0B5C1-EC62-406E-82B0-BCEA8255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ROS 2 项目截图占位</a:t>
            </a:r>
          </a:p>
        </p:txBody>
      </p:sp>
      <p:sp>
        <p:nvSpPr>
          <p:cNvPr id="6" name="s6-ros-image-hint">
            <a:extLst xmlns:a="http://schemas.openxmlformats.org/drawingml/2006/main">
              <a:ext uri="{FF2B5EF4-FFF2-40B4-BE49-F238E27FC236}">
                <a16:creationId xmlns:a16="http://schemas.microsoft.com/office/drawing/2014/main" id="{1A423790-C528-44CE-9295-DA35625D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009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建议补充：Gazebo 场景、</a:t>
            </a:r>
          </a:p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Nav2 路径与 Costmap 界面</a:t>
            </a:r>
          </a:p>
        </p:txBody>
      </p:sp>
      <p:sp>
        <p:nvSpPr>
          <p:cNvPr id="7" name="s6-cv-image-frame">
            <a:extLst xmlns:a="http://schemas.openxmlformats.org/drawingml/2006/main">
              <a:ext uri="{FF2B5EF4-FFF2-40B4-BE49-F238E27FC236}">
                <a16:creationId xmlns:a16="http://schemas.microsoft.com/office/drawing/2014/main" id="{A5CC97A3-9F98-49C8-94D7-0B797869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57300"/>
            <a:ext cx="34671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s6-cv-image-band">
            <a:extLst xmlns:a="http://schemas.openxmlformats.org/drawingml/2006/main">
              <a:ext uri="{FF2B5EF4-FFF2-40B4-BE49-F238E27FC236}">
                <a16:creationId xmlns:a16="http://schemas.microsoft.com/office/drawing/2014/main" id="{DD6E0127-6A07-4564-A00B-047EC6FE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57300"/>
            <a:ext cx="346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6-cv-image-title">
            <a:extLst xmlns:a="http://schemas.openxmlformats.org/drawingml/2006/main">
              <a:ext uri="{FF2B5EF4-FFF2-40B4-BE49-F238E27FC236}">
                <a16:creationId xmlns:a16="http://schemas.microsoft.com/office/drawing/2014/main" id="{30296EF2-1F19-4BEC-8173-929B992F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43025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冠脉分割效果图占位</a:t>
            </a:r>
          </a:p>
        </p:txBody>
      </p:sp>
      <p:sp>
        <p:nvSpPr>
          <p:cNvPr id="10" name="s6-cv-image-hint">
            <a:extLst xmlns:a="http://schemas.openxmlformats.org/drawingml/2006/main">
              <a:ext uri="{FF2B5EF4-FFF2-40B4-BE49-F238E27FC236}">
                <a16:creationId xmlns:a16="http://schemas.microsoft.com/office/drawing/2014/main" id="{DE53DC19-85CF-40C7-A8ED-CBDBCA4E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66900"/>
            <a:ext cx="3009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建议补充：原始造影图、</a:t>
            </a:r>
          </a:p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分割掩膜与血管树对比</a:t>
            </a:r>
          </a:p>
        </p:txBody>
      </p:sp>
      <p:sp>
        <p:nvSpPr>
          <p:cNvPr id="11" name="s6-secondary">
            <a:extLst xmlns:a="http://schemas.openxmlformats.org/drawingml/2006/main">
              <a:ext uri="{FF2B5EF4-FFF2-40B4-BE49-F238E27FC236}">
                <a16:creationId xmlns:a16="http://schemas.microsoft.com/office/drawing/2014/main" id="{73B001A5-68F5-4AC3-B78F-0BE4EB01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257300"/>
            <a:ext cx="33718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6-ros-title">
            <a:extLst xmlns:a="http://schemas.openxmlformats.org/drawingml/2006/main">
              <a:ext uri="{FF2B5EF4-FFF2-40B4-BE49-F238E27FC236}">
                <a16:creationId xmlns:a16="http://schemas.microsoft.com/office/drawing/2014/main" id="{A975C908-04AB-478D-B6C5-F150162C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ROS 2 室内自主导航</a:t>
            </a:r>
          </a:p>
        </p:txBody>
      </p:sp>
      <p:sp>
        <p:nvSpPr>
          <p:cNvPr id="13" name="s6-ros-body">
            <a:extLst xmlns:a="http://schemas.openxmlformats.org/drawingml/2006/main">
              <a:ext uri="{FF2B5EF4-FFF2-40B4-BE49-F238E27FC236}">
                <a16:creationId xmlns:a16="http://schemas.microsoft.com/office/drawing/2014/main" id="{26380342-08F2-4631-B7E0-1A554CA7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346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Gazebo + SLAM Toolbox + AMCL + Nav2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实现建图、定位、规划、避障与异常恢复</a:t>
            </a:r>
          </a:p>
        </p:txBody>
      </p:sp>
      <p:sp>
        <p:nvSpPr>
          <p:cNvPr id="14" name="s6-cv-title">
            <a:extLst xmlns:a="http://schemas.openxmlformats.org/drawingml/2006/main">
              <a:ext uri="{FF2B5EF4-FFF2-40B4-BE49-F238E27FC236}">
                <a16:creationId xmlns:a16="http://schemas.microsoft.com/office/drawing/2014/main" id="{93FC020B-B9C9-44EA-8E71-4D428094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43300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冠脉血管分割与部署</a:t>
            </a:r>
          </a:p>
        </p:txBody>
      </p:sp>
      <p:sp>
        <p:nvSpPr>
          <p:cNvPr id="15" name="s6-cv-body">
            <a:extLst xmlns:a="http://schemas.openxmlformats.org/drawingml/2006/main">
              <a:ext uri="{FF2B5EF4-FFF2-40B4-BE49-F238E27FC236}">
                <a16:creationId xmlns:a16="http://schemas.microsoft.com/office/drawing/2014/main" id="{394DEC45-3DC0-4101-BA3B-5D67FF89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38600"/>
            <a:ext cx="346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Res-UNet + Swin Transformer + TensorRT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98.5% 精确度 · 84.0% Dice · 0.02 s/张</a:t>
            </a:r>
          </a:p>
        </p:txBody>
      </p:sp>
      <p:sp>
        <p:nvSpPr>
          <p:cNvPr id="16" name="s6-secondary-title">
            <a:extLst xmlns:a="http://schemas.openxmlformats.org/drawingml/2006/main">
              <a:ext uri="{FF2B5EF4-FFF2-40B4-BE49-F238E27FC236}">
                <a16:creationId xmlns:a16="http://schemas.microsoft.com/office/drawing/2014/main" id="{9984B815-D2B4-4E52-BA4F-264CD516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430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更多系统项目</a:t>
            </a:r>
          </a:p>
        </p:txBody>
      </p:sp>
      <p:sp>
        <p:nvSpPr>
          <p:cNvPr id="17" name="s6-avionics-title">
            <a:extLst xmlns:a="http://schemas.openxmlformats.org/drawingml/2006/main">
              <a:ext uri="{FF2B5EF4-FFF2-40B4-BE49-F238E27FC236}">
                <a16:creationId xmlns:a16="http://schemas.microsoft.com/office/drawing/2014/main" id="{3CE8A0F5-F1F3-4BB6-A70E-403A9B46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机载服务化运行平台</a:t>
            </a:r>
          </a:p>
        </p:txBody>
      </p:sp>
      <p:sp>
        <p:nvSpPr>
          <p:cNvPr id="18" name="s6-avionics-body">
            <a:extLst xmlns:a="http://schemas.openxmlformats.org/drawingml/2006/main">
              <a:ext uri="{FF2B5EF4-FFF2-40B4-BE49-F238E27FC236}">
                <a16:creationId xmlns:a16="http://schemas.microsoft.com/office/drawing/2014/main" id="{6B0616CC-C0A5-4CE7-927B-94FF8ECB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28900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VxWorks 6.8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DDS 通信中间件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跨平台 RPC 与服务注册中心</a:t>
            </a:r>
          </a:p>
        </p:txBody>
      </p:sp>
      <p:sp>
        <p:nvSpPr>
          <p:cNvPr id="19" name="s6-robot-title">
            <a:extLst xmlns:a="http://schemas.openxmlformats.org/drawingml/2006/main">
              <a:ext uri="{FF2B5EF4-FFF2-40B4-BE49-F238E27FC236}">
                <a16:creationId xmlns:a16="http://schemas.microsoft.com/office/drawing/2014/main" id="{6C62FCE5-C0D3-4EB0-936C-ABA57445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290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双目视觉激光点痣机器人</a:t>
            </a:r>
          </a:p>
        </p:txBody>
      </p:sp>
      <p:sp>
        <p:nvSpPr>
          <p:cNvPr id="20" name="s6-robot-body">
            <a:extLst xmlns:a="http://schemas.openxmlformats.org/drawingml/2006/main">
              <a:ext uri="{FF2B5EF4-FFF2-40B4-BE49-F238E27FC236}">
                <a16:creationId xmlns:a16="http://schemas.microsoft.com/office/drawing/2014/main" id="{03447A1D-7D26-4761-AB3D-EB82B4D1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48150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SGBM + PCL + Qt / OpenGL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三维点坐标获取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全流程定位误差 &lt; 5%</a:t>
            </a:r>
          </a:p>
        </p:txBody>
      </p:sp>
    </p:spTree>
    <p:extLst>
      <p:ext uri="{BB962C8B-B14F-4D97-AF65-F5344CB8AC3E}">
        <p14:creationId xmlns:p14="http://schemas.microsoft.com/office/powerpoint/2010/main" val="795382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0303322C-7769-46F9-9509-8FC42E33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能力栈围绕 C++ 系统开发形成闭环</a:t>
            </a:r>
          </a:p>
        </p:txBody>
      </p:sp>
      <p:sp>
        <p:nvSpPr>
          <p:cNvPr id="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3FB3033A-BBDA-43DA-8753-4F9977F2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s7-title-0-0">
            <a:extLst xmlns:a="http://schemas.openxmlformats.org/drawingml/2006/main">
              <a:ext uri="{FF2B5EF4-FFF2-40B4-BE49-F238E27FC236}">
                <a16:creationId xmlns:a16="http://schemas.microsoft.com/office/drawing/2014/main" id="{164E8A76-1A91-4936-BE83-0036D910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C++ 与系统开发</a:t>
            </a:r>
          </a:p>
        </p:txBody>
      </p:sp>
      <p:sp>
        <p:nvSpPr>
          <p:cNvPr id="4" name="s7-body-0-0">
            <a:extLst xmlns:a="http://schemas.openxmlformats.org/drawingml/2006/main">
              <a:ext uri="{FF2B5EF4-FFF2-40B4-BE49-F238E27FC236}">
                <a16:creationId xmlns:a16="http://schemas.microsoft.com/office/drawing/2014/main" id="{18E9941B-0D15-496F-80A6-87701AD8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2457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C / C++、Python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Linux 网络通信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Docker、Kubernetes</a:t>
            </a:r>
          </a:p>
        </p:txBody>
      </p:sp>
      <p:sp>
        <p:nvSpPr>
          <p:cNvPr id="5" name="s7-title-0-1">
            <a:extLst xmlns:a="http://schemas.openxmlformats.org/drawingml/2006/main">
              <a:ext uri="{FF2B5EF4-FFF2-40B4-BE49-F238E27FC236}">
                <a16:creationId xmlns:a16="http://schemas.microsoft.com/office/drawing/2014/main" id="{BAD8F1F6-6CA1-40AD-80F8-1C5B0A6B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812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通信与路由</a:t>
            </a:r>
          </a:p>
        </p:txBody>
      </p:sp>
      <p:sp>
        <p:nvSpPr>
          <p:cNvPr id="6" name="s7-body-0-1">
            <a:extLst xmlns:a="http://schemas.openxmlformats.org/drawingml/2006/main">
              <a:ext uri="{FF2B5EF4-FFF2-40B4-BE49-F238E27FC236}">
                <a16:creationId xmlns:a16="http://schemas.microsoft.com/office/drawing/2014/main" id="{96B6C579-29D7-4ECE-A2C4-CF49E640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95550"/>
            <a:ext cx="2457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TCP/IP、OSPFv2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CAN、TSN、QoS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FastDDS、gRPC</a:t>
            </a:r>
          </a:p>
        </p:txBody>
      </p:sp>
      <p:sp>
        <p:nvSpPr>
          <p:cNvPr id="7" name="s7-title-0-2">
            <a:extLst xmlns:a="http://schemas.openxmlformats.org/drawingml/2006/main">
              <a:ext uri="{FF2B5EF4-FFF2-40B4-BE49-F238E27FC236}">
                <a16:creationId xmlns:a16="http://schemas.microsoft.com/office/drawing/2014/main" id="{17D3489E-941B-4BBE-9EC9-B5B1A16C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Linux 网络栈</a:t>
            </a:r>
          </a:p>
        </p:txBody>
      </p:sp>
      <p:sp>
        <p:nvSpPr>
          <p:cNvPr id="8" name="s7-body-0-2">
            <a:extLst xmlns:a="http://schemas.openxmlformats.org/drawingml/2006/main">
              <a:ext uri="{FF2B5EF4-FFF2-40B4-BE49-F238E27FC236}">
                <a16:creationId xmlns:a16="http://schemas.microsoft.com/office/drawing/2014/main" id="{639A66EA-1D16-4FBE-8981-E56374F4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2457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Network Namespace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Open vSwitch、eBPF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FRR、raw Socket</a:t>
            </a:r>
          </a:p>
        </p:txBody>
      </p:sp>
      <p:sp>
        <p:nvSpPr>
          <p:cNvPr id="9" name="s7-title-0-3">
            <a:extLst xmlns:a="http://schemas.openxmlformats.org/drawingml/2006/main">
              <a:ext uri="{FF2B5EF4-FFF2-40B4-BE49-F238E27FC236}">
                <a16:creationId xmlns:a16="http://schemas.microsoft.com/office/drawing/2014/main" id="{304D871D-C2A5-4D1B-B309-631E2DE3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812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ROS 2 机器人</a:t>
            </a:r>
          </a:p>
        </p:txBody>
      </p:sp>
      <p:sp>
        <p:nvSpPr>
          <p:cNvPr id="10" name="s7-body-0-3">
            <a:extLst xmlns:a="http://schemas.openxmlformats.org/drawingml/2006/main">
              <a:ext uri="{FF2B5EF4-FFF2-40B4-BE49-F238E27FC236}">
                <a16:creationId xmlns:a16="http://schemas.microsoft.com/office/drawing/2014/main" id="{D77BD417-FE60-45A7-AFF7-EDC320A6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95550"/>
            <a:ext cx="2457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Nav2、AMCL、TF2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SLAM Toolbox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ros2_control、Gazebo</a:t>
            </a:r>
          </a:p>
        </p:txBody>
      </p:sp>
      <p:sp>
        <p:nvSpPr>
          <p:cNvPr id="11" name="s7-title-1-0">
            <a:extLst xmlns:a="http://schemas.openxmlformats.org/drawingml/2006/main">
              <a:ext uri="{FF2B5EF4-FFF2-40B4-BE49-F238E27FC236}">
                <a16:creationId xmlns:a16="http://schemas.microsoft.com/office/drawing/2014/main" id="{73CAF0B4-A2D7-4D48-A7A0-90B5E778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9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计算机视觉</a:t>
            </a:r>
          </a:p>
        </p:txBody>
      </p:sp>
      <p:sp>
        <p:nvSpPr>
          <p:cNvPr id="12" name="s7-body-1-0">
            <a:extLst xmlns:a="http://schemas.openxmlformats.org/drawingml/2006/main">
              <a:ext uri="{FF2B5EF4-FFF2-40B4-BE49-F238E27FC236}">
                <a16:creationId xmlns:a16="http://schemas.microsoft.com/office/drawing/2014/main" id="{C170E06B-1778-49B9-8762-6359D208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33900"/>
            <a:ext cx="2457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PyTorch / Libtorch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Res-UNet、Transformer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OpenCV、PCL</a:t>
            </a:r>
          </a:p>
        </p:txBody>
      </p:sp>
      <p:sp>
        <p:nvSpPr>
          <p:cNvPr id="13" name="s7-title-1-1">
            <a:extLst xmlns:a="http://schemas.openxmlformats.org/drawingml/2006/main">
              <a:ext uri="{FF2B5EF4-FFF2-40B4-BE49-F238E27FC236}">
                <a16:creationId xmlns:a16="http://schemas.microsoft.com/office/drawing/2014/main" id="{C87F0ABE-A7D3-4497-AEA7-B35A2264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19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推理部署</a:t>
            </a:r>
          </a:p>
        </p:txBody>
      </p:sp>
      <p:sp>
        <p:nvSpPr>
          <p:cNvPr id="14" name="s7-body-1-1">
            <a:extLst xmlns:a="http://schemas.openxmlformats.org/drawingml/2006/main">
              <a:ext uri="{FF2B5EF4-FFF2-40B4-BE49-F238E27FC236}">
                <a16:creationId xmlns:a16="http://schemas.microsoft.com/office/drawing/2014/main" id="{B3122C89-3D03-49B5-A628-D4FCBFAC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33900"/>
            <a:ext cx="2457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TensorRT 量化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Windows C++ 接口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0.02 s/张推理</a:t>
            </a:r>
          </a:p>
        </p:txBody>
      </p:sp>
      <p:sp>
        <p:nvSpPr>
          <p:cNvPr id="15" name="s7-title-1-2">
            <a:extLst xmlns:a="http://schemas.openxmlformats.org/drawingml/2006/main">
              <a:ext uri="{FF2B5EF4-FFF2-40B4-BE49-F238E27FC236}">
                <a16:creationId xmlns:a16="http://schemas.microsoft.com/office/drawing/2014/main" id="{99287C83-3D59-4251-B6EA-EADC2A5C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19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工程验证</a:t>
            </a:r>
          </a:p>
        </p:txBody>
      </p:sp>
      <p:sp>
        <p:nvSpPr>
          <p:cNvPr id="16" name="s7-body-1-2">
            <a:extLst xmlns:a="http://schemas.openxmlformats.org/drawingml/2006/main">
              <a:ext uri="{FF2B5EF4-FFF2-40B4-BE49-F238E27FC236}">
                <a16:creationId xmlns:a16="http://schemas.microsoft.com/office/drawing/2014/main" id="{5AE8F57E-F644-4CE7-85D0-252380FC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2457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性能指标采集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地面验证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异常恢复设计</a:t>
            </a:r>
          </a:p>
        </p:txBody>
      </p:sp>
      <p:sp>
        <p:nvSpPr>
          <p:cNvPr id="17" name="s7-title-1-3">
            <a:extLst xmlns:a="http://schemas.openxmlformats.org/drawingml/2006/main">
              <a:ext uri="{FF2B5EF4-FFF2-40B4-BE49-F238E27FC236}">
                <a16:creationId xmlns:a16="http://schemas.microsoft.com/office/drawing/2014/main" id="{F2CD3BF8-8B9C-4352-B6E9-D2C774D0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19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补充语言</a:t>
            </a:r>
          </a:p>
        </p:txBody>
      </p:sp>
      <p:sp>
        <p:nvSpPr>
          <p:cNvPr id="18" name="s7-body-1-3">
            <a:extLst xmlns:a="http://schemas.openxmlformats.org/drawingml/2006/main">
              <a:ext uri="{FF2B5EF4-FFF2-40B4-BE49-F238E27FC236}">
                <a16:creationId xmlns:a16="http://schemas.microsoft.com/office/drawing/2014/main" id="{A2F6A0FD-5984-4DAD-B7BD-A8CDF14A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33900"/>
            <a:ext cx="2457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熟悉 C / C++、Python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了解 Lua</a:t>
            </a:r>
          </a:p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跨平台 RPC 经验</a:t>
            </a:r>
          </a:p>
        </p:txBody>
      </p:sp>
    </p:spTree>
    <p:extLst>
      <p:ext uri="{BB962C8B-B14F-4D97-AF65-F5344CB8AC3E}">
        <p14:creationId xmlns:p14="http://schemas.microsoft.com/office/powerpoint/2010/main" val="10611597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23B553E0-4902-4977-A51C-487082FD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ROLE FIT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AD11E1D-B3DB-4BFF-98B2-032CDA7D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我能带来的价值</a:t>
            </a:r>
          </a:p>
        </p:txBody>
      </p:sp>
      <p:sp>
        <p:nvSpPr>
          <p:cNvPr id="3" name="close-claim">
            <a:extLst xmlns:a="http://schemas.openxmlformats.org/drawingml/2006/main">
              <a:ext uri="{FF2B5EF4-FFF2-40B4-BE49-F238E27FC236}">
                <a16:creationId xmlns:a16="http://schemas.microsoft.com/office/drawing/2014/main" id="{CBBA8B43-C40B-4B82-BAD7-E0ABA3A7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4600"/>
            <a:ext cx="9334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把协议理解、C++ 系统实现与工程验证连接起来，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在高性能网络与复杂系统场景中交付可落地结果。</a:t>
            </a:r>
          </a:p>
        </p:txBody>
      </p:sp>
      <p:sp>
        <p:nvSpPr>
          <p:cNvPr id="4" name="close-value">
            <a:extLst xmlns:a="http://schemas.openxmlformats.org/drawingml/2006/main">
              <a:ext uri="{FF2B5EF4-FFF2-40B4-BE49-F238E27FC236}">
                <a16:creationId xmlns:a16="http://schemas.microsoft.com/office/drawing/2014/main" id="{D24B7057-3A65-4F87-9D67-1FF4D306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148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高性能网络研发   ·   Linux 系统工程   ·   跨领域部署能力</a:t>
            </a:r>
          </a:p>
        </p:txBody>
      </p:sp>
      <p:sp>
        <p:nvSpPr>
          <p:cNvPr id="5" name="close-output">
            <a:extLst xmlns:a="http://schemas.openxmlformats.org/drawingml/2006/main">
              <a:ext uri="{FF2B5EF4-FFF2-40B4-BE49-F238E27FC236}">
                <a16:creationId xmlns:a16="http://schemas.microsoft.com/office/drawing/2014/main" id="{124357DA-EB16-41C5-BCDE-EC2C84B5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339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研究成果：ICGNC 2022 论文 1 篇 · 专利 2 项</a:t>
            </a:r>
          </a:p>
        </p:txBody>
      </p:sp>
      <p:sp>
        <p:nvSpPr>
          <p:cNvPr id="6" name="close-contact">
            <a:extLst xmlns:a="http://schemas.openxmlformats.org/drawingml/2006/main">
              <a:ext uri="{FF2B5EF4-FFF2-40B4-BE49-F238E27FC236}">
                <a16:creationId xmlns:a16="http://schemas.microsoft.com/office/drawing/2014/main" id="{D8EE5B2E-BECA-430A-ADA2-CA4FC9CF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曹景龙   |   15652587396   |   cjl199811@163.com</a:t>
            </a:r>
          </a:p>
        </p:txBody>
      </p:sp>
    </p:spTree>
    <p:extLst>
      <p:ext uri="{BB962C8B-B14F-4D97-AF65-F5344CB8AC3E}">
        <p14:creationId xmlns:p14="http://schemas.microsoft.com/office/powerpoint/2010/main" val="1149781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2026-07-18T04:51:50.8970000Z</dcterms:created>
  <dcterms:modified xsi:type="dcterms:W3CDTF">2026-07-18T04:51:50.8970000Z</dcterms:modified>
</coreProperties>
</file>