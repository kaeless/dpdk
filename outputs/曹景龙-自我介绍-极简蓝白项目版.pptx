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blue-field">
            <a:extLst>
              <a:ext uri="{FF2B5EF4-FFF2-40B4-BE49-F238E27FC236}">
                <a16:creationId xmlns:a16="http://schemas.microsoft.com/office/drawing/2014/main" id="{E22EA75C-A009-4C4D-B9A2-48533D60EB79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2" name="cover-accent">
            <a:extLst>
              <a:ext uri="{FF2B5EF4-FFF2-40B4-BE49-F238E27FC236}">
                <a16:creationId xmlns:a16="http://schemas.microsoft.com/office/drawing/2014/main" id="{F75A0B47-93CE-4916-B7AF-1D25A88445C2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171450" cy="6858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cover-label">
            <a:extLst>
              <a:ext uri="{FF2B5EF4-FFF2-40B4-BE49-F238E27FC236}">
                <a16:creationId xmlns:a16="http://schemas.microsoft.com/office/drawing/2014/main" id="{5E9839D7-68EF-42BA-B3F6-C520E8B26EA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SELF INTRODUCTION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B7A0F460-4C5E-43ED-956F-D5675A9450D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7334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曹景龙｜自我介绍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86E9F348-A1B4-47D2-AB9A-695D6AB29F15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9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C++ 与 Linux 网络系统开发：从协议栈到工程验证</a:t>
            </a:r>
          </a:p>
        </p:txBody>
      </p:sp>
      <p:cxnSp>
        <p:nvCxnSpPr>
          <p:cNvPr id="26" name="cover-short-rule"/>
          <p:cNvCxnSpPr/>
          <p:nvPr/>
        </p:nvCxnSpPr>
        <p:spPr>
          <a:xfrm>
            <a:off x="609600" y="4000500"/>
            <a:ext cx="1619250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sp>
        <p:nvSpPr>
          <p:cNvPr id="7" name="cover-meta">
            <a:extLst>
              <a:ext uri="{FF2B5EF4-FFF2-40B4-BE49-F238E27FC236}">
                <a16:creationId xmlns:a16="http://schemas.microsoft.com/office/drawing/2014/main" id="{4F8E1A69-4EE3-4C36-82C5-AA86B5A3F21E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048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求职方向：C++ 开发工程师</a:t>
            </a:r>
          </a:p>
          <a:p>
            <a:pPr algn="l"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现任：中国空间技术研究院 · 卫星网络工程师</a:t>
            </a:r>
          </a:p>
          <a:p>
            <a:pPr algn="l"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日期：2026.07</a:t>
            </a:r>
          </a:p>
        </p:txBody>
      </p:sp>
      <p:sp>
        <p:nvSpPr>
          <p:cNvPr id="8" name="cover-side">
            <a:extLst>
              <a:ext uri="{FF2B5EF4-FFF2-40B4-BE49-F238E27FC236}">
                <a16:creationId xmlns:a16="http://schemas.microsoft.com/office/drawing/2014/main" id="{33186D6C-DEB7-4A3C-BDE5-6035F2DE18EF}"/>
              </a:ext>
            </a:extLst>
          </p:cNvPr>
          <p:cNvSpPr>
            <a:spLocks noGrp="1"/>
          </p:cNvSpPr>
          <p:nvPr/>
        </p:nvSpPr>
        <p:spPr>
          <a:xfrm>
            <a:off x="9486900" y="1676400"/>
            <a:ext cx="2190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C++</a:t>
            </a:r>
          </a:p>
          <a:p>
            <a:pPr algn="l">
              <a:buNone/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LINUX</a:t>
            </a:r>
          </a:p>
          <a:p>
            <a:pPr algn="l">
              <a:buNone/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NETWORK</a:t>
            </a:r>
          </a:p>
          <a:p>
            <a:pPr algn="l">
              <a:buNone/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163466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7">
            <a:extLst>
              <a:ext uri="{FF2B5EF4-FFF2-40B4-BE49-F238E27FC236}">
                <a16:creationId xmlns:a16="http://schemas.microsoft.com/office/drawing/2014/main" id="{277DD7CD-D417-4185-8F7D-01DBE0D2CC6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cxnSp>
        <p:nvCxnSpPr>
          <p:cNvPr id="18" name="top-rule-7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7">
            <a:extLst>
              <a:ext uri="{FF2B5EF4-FFF2-40B4-BE49-F238E27FC236}">
                <a16:creationId xmlns:a16="http://schemas.microsoft.com/office/drawing/2014/main" id="{AD9CE066-BA0E-461B-831A-7E276D87438E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itle-7">
            <a:extLst>
              <a:ext uri="{FF2B5EF4-FFF2-40B4-BE49-F238E27FC236}">
                <a16:creationId xmlns:a16="http://schemas.microsoft.com/office/drawing/2014/main" id="{A97EC994-564D-4336-A72F-EEE6ACD7DCD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以 C++ 与 Linux 网络系统为主线，连接协议、算法与部署</a:t>
            </a:r>
          </a:p>
        </p:txBody>
      </p:sp>
      <p:sp>
        <p:nvSpPr>
          <p:cNvPr id="5" name="subtitle-7">
            <a:extLst>
              <a:ext uri="{FF2B5EF4-FFF2-40B4-BE49-F238E27FC236}">
                <a16:creationId xmlns:a16="http://schemas.microsoft.com/office/drawing/2014/main" id="{19597AA3-EF8E-4A91-87B5-11214E853EC5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北京航空航天大学硕士｜中国空间技术研究院卫星网络工程师｜求职方向：C++开发工程师</a:t>
            </a:r>
          </a:p>
        </p:txBody>
      </p:sp>
      <p:sp>
        <p:nvSpPr>
          <p:cNvPr id="6" name="s7-data-title">
            <a:extLst>
              <a:ext uri="{FF2B5EF4-FFF2-40B4-BE49-F238E27FC236}">
                <a16:creationId xmlns:a16="http://schemas.microsoft.com/office/drawing/2014/main" id="{4E467F98-8D53-4FB1-B9B8-8D3EA1303163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个人简介</a:t>
            </a:r>
          </a:p>
        </p:txBody>
      </p:sp>
      <p:sp>
        <p:nvSpPr>
          <p:cNvPr id="7" name="s7-data">
            <a:extLst>
              <a:ext uri="{FF2B5EF4-FFF2-40B4-BE49-F238E27FC236}">
                <a16:creationId xmlns:a16="http://schemas.microsoft.com/office/drawing/2014/main" id="{8D7B7DE6-73A9-478E-9CBD-ADC21F3BE8EF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4000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118"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曹景龙，北京航空航天大学控制工程硕士、机械电子工程本科，求职方向为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C++ </a:t>
            </a: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开发工程师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现任中国空间技术研究院卫星网络工程师，主要从事卫星高性能路由器、容器化网络仿真平台研制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同时参与新一代信息总线架构与星地无线链路协议的论证、设计及地面验证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具备从方案论证、系统实现到性能验证的完整工程经验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s7-impl-title">
            <a:extLst>
              <a:ext uri="{FF2B5EF4-FFF2-40B4-BE49-F238E27FC236}">
                <a16:creationId xmlns:a16="http://schemas.microsoft.com/office/drawing/2014/main" id="{BB06AFF2-0BAB-4681-A59E-D8ED849C5FA6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工程能力</a:t>
            </a:r>
          </a:p>
        </p:txBody>
      </p:sp>
      <p:sp>
        <p:nvSpPr>
          <p:cNvPr id="9" name="s7-impl">
            <a:extLst>
              <a:ext uri="{FF2B5EF4-FFF2-40B4-BE49-F238E27FC236}">
                <a16:creationId xmlns:a16="http://schemas.microsoft.com/office/drawing/2014/main" id="{4D30D80B-B341-4E92-8C65-CC2CBC41966E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4476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技术主线：C/C++、Linux 网络通信与实时系统开发</a:t>
            </a:r>
          </a:p>
          <a:p>
            <a:pPr algn="l"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工程实践：Docker、Kubernetes、Open vSwitch、eBPF、FRR</a:t>
            </a:r>
          </a:p>
          <a:p>
            <a:pPr algn="l">
              <a:buNone/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能力特征：贯通协议栈、嵌入式平台、算法接口与工程部署</a:t>
            </a:r>
          </a:p>
        </p:txBody>
      </p:sp>
      <p:sp>
        <p:nvSpPr>
          <p:cNvPr id="10" name="s7-metrics">
            <a:extLst>
              <a:ext uri="{FF2B5EF4-FFF2-40B4-BE49-F238E27FC236}">
                <a16:creationId xmlns:a16="http://schemas.microsoft.com/office/drawing/2014/main" id="{177259FA-C594-4857-995D-65CB4D07D13B}"/>
              </a:ext>
            </a:extLst>
          </p:cNvPr>
          <p:cNvSpPr>
            <a:spLocks noGrp="1"/>
          </p:cNvSpPr>
          <p:nvPr/>
        </p:nvSpPr>
        <p:spPr>
          <a:xfrm>
            <a:off x="5848350" y="2343150"/>
            <a:ext cx="5429250" cy="3676650"/>
          </a:xfrm>
          <a:prstGeom prst="rect">
            <a:avLst/>
          </a:prstGeom>
          <a:solidFill>
            <a:srgbClr val="F4F8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7-metrics-title">
            <a:extLst>
              <a:ext uri="{FF2B5EF4-FFF2-40B4-BE49-F238E27FC236}">
                <a16:creationId xmlns:a16="http://schemas.microsoft.com/office/drawing/2014/main" id="{A4717CA5-02B1-4181-BF17-A7AE628F9133}"/>
              </a:ext>
            </a:extLst>
          </p:cNvPr>
          <p:cNvSpPr>
            <a:spLocks noGrp="1"/>
          </p:cNvSpPr>
          <p:nvPr/>
        </p:nvSpPr>
        <p:spPr>
          <a:xfrm>
            <a:off x="6153150" y="26479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核心能力与项目覆盖</a:t>
            </a:r>
          </a:p>
        </p:txBody>
      </p:sp>
      <p:sp>
        <p:nvSpPr>
          <p:cNvPr id="12" name="s7-metrics-body">
            <a:extLst>
              <a:ext uri="{FF2B5EF4-FFF2-40B4-BE49-F238E27FC236}">
                <a16:creationId xmlns:a16="http://schemas.microsoft.com/office/drawing/2014/main" id="{9113F98B-7240-4CF6-9C73-F8344568A1AD}"/>
              </a:ext>
            </a:extLst>
          </p:cNvPr>
          <p:cNvSpPr>
            <a:spLocks noGrp="1"/>
          </p:cNvSpPr>
          <p:nvPr/>
        </p:nvSpPr>
        <p:spPr>
          <a:xfrm>
            <a:off x="6153150" y="323850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网络与协议</a:t>
            </a:r>
          </a:p>
          <a:p>
            <a:pPr algn="l">
              <a:buNone/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TCP/IP、OSPFv2、DDS、CAN、TSN、QoS</a:t>
            </a:r>
          </a:p>
          <a:p>
            <a:endParaRPr sz="1425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系统与平台</a:t>
            </a:r>
          </a:p>
          <a:p>
            <a:pPr algn="l">
              <a:buNone/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Network Namespace、FastDDS、gRPC、ROS 2</a:t>
            </a:r>
          </a:p>
          <a:p>
            <a:endParaRPr sz="1425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算法与部署</a:t>
            </a:r>
          </a:p>
          <a:p>
            <a:pPr algn="l">
              <a:buNone/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PyTorch/Libtorch、OpenCV、TensorRT</a:t>
            </a:r>
          </a:p>
          <a:p>
            <a:pPr algn="l">
              <a:buNone/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关注实时性、可靠性与性能验证</a:t>
            </a:r>
          </a:p>
        </p:txBody>
      </p:sp>
    </p:spTree>
    <p:extLst>
      <p:ext uri="{BB962C8B-B14F-4D97-AF65-F5344CB8AC3E}">
        <p14:creationId xmlns:p14="http://schemas.microsoft.com/office/powerpoint/2010/main" val="59890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WORK PROJECT</a:t>
            </a:r>
          </a:p>
        </p:txBody>
      </p:sp>
      <p:cxnSp>
        <p:nvCxnSpPr>
          <p:cNvPr id="19" name="top-rule-4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卫星高性能路由器：面向星上网络的确定性转发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中国空间技术研究院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卫星网络工程师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· 2023.04—</a:t>
            </a: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至今</a:t>
            </a:r>
            <a:endParaRPr sz="1425" b="0" dirty="0">
              <a:solidFill>
                <a:srgbClr val="47556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s4-context-label">
            <a:extLst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项目要点</a:t>
            </a:r>
          </a:p>
        </p:txBody>
      </p:sp>
      <p:sp>
        <p:nvSpPr>
          <p:cNvPr id="7" name="s4-context">
            <a:extLst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66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OSPFv2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设计卫星子网路由算法，对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LSA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通告进行裁剪，适配动态环境下的路由同步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IP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网络、AOS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链路帧与总线通信协议之间的协议转换网关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设计动态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QoS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策略，保障高优先级信息确定性微秒级处理转发，并完成产品研制与地面验证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s4-question">
            <a:extLst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noGrp="1"/>
          </p:cNvSpPr>
          <p:nvPr/>
        </p:nvSpPr>
        <p:spPr>
          <a:xfrm>
            <a:off x="609600" y="6121776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s4-question-text">
            <a:extLst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noGrp="1"/>
          </p:cNvSpPr>
          <p:nvPr/>
        </p:nvSpPr>
        <p:spPr>
          <a:xfrm>
            <a:off x="838200" y="6208061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技术主线：路由协议裁剪</a:t>
            </a:r>
            <a:r>
              <a:rPr sz="15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5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多协议适配</a:t>
            </a:r>
            <a:r>
              <a:rPr sz="15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5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动态</a:t>
            </a:r>
            <a:r>
              <a:rPr sz="15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 QoS / </a:t>
            </a:r>
            <a:r>
              <a:rPr sz="1500" b="1" dirty="0" err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实时性能验证</a:t>
            </a:r>
            <a:endParaRPr sz="1500" b="1" dirty="0">
              <a:solidFill>
                <a:srgbClr val="2563E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WORK PROJECT</a:t>
            </a:r>
          </a:p>
        </p:txBody>
      </p:sp>
      <p:cxnSp>
        <p:nvCxnSpPr>
          <p:cNvPr id="19" name="top-rule-4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容器化网络仿真平台：单机承载 100+ 轻量节点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中国空间技术研究院 · 卫星网络工程师 · 2023.04—至今</a:t>
            </a:r>
          </a:p>
        </p:txBody>
      </p:sp>
      <p:sp>
        <p:nvSpPr>
          <p:cNvPr id="6" name="s4-context-label">
            <a:extLst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项目要点</a:t>
            </a:r>
          </a:p>
        </p:txBody>
      </p:sp>
      <p:sp>
        <p:nvSpPr>
          <p:cNvPr id="7" name="s4-context">
            <a:extLst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66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基于 Linux Network Namespace 隔离节点协议栈，支持单服务器 100+ 容器实例并行运行。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采用 veth 与 Open vSwitch 组网，并以 eBPF 采集链路时延和速率。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通过 raw Socket/TCP/UDP 封装业务流，集成 FRR 路由交互与 FastDDS 外部仿真接口。</a:t>
            </a:r>
          </a:p>
        </p:txBody>
      </p:sp>
      <p:sp>
        <p:nvSpPr>
          <p:cNvPr id="8" name="s4-question">
            <a:extLst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s4-question-text">
            <a:extLst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相关技术说明：平台可围绕拓扑、链路与业务流进行可控配置，支撑网络方案论证</a:t>
            </a:r>
          </a:p>
        </p:txBody>
      </p:sp>
      <p:sp>
        <p:nvSpPr>
          <p:cNvPr id="10" name="s4-image-frame">
            <a:extLst>
              <a:ext uri="{FF2B5EF4-FFF2-40B4-BE49-F238E27FC236}">
                <a16:creationId xmlns:a16="http://schemas.microsoft.com/office/drawing/2014/main" id="{AF8BFEDA-1AA0-4F54-9F44-1F363B27B0CB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1752600"/>
          </a:xfrm>
          <a:prstGeom prst="rect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4-image-band">
            <a:extLst>
              <a:ext uri="{FF2B5EF4-FFF2-40B4-BE49-F238E27FC236}">
                <a16:creationId xmlns:a16="http://schemas.microsoft.com/office/drawing/2014/main" id="{02327F5F-8BB3-4733-8499-166D1D5A7B93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3429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2" name="s4-image-label">
            <a:extLst>
              <a:ext uri="{FF2B5EF4-FFF2-40B4-BE49-F238E27FC236}">
                <a16:creationId xmlns:a16="http://schemas.microsoft.com/office/drawing/2014/main" id="{834646E1-DBF4-471B-BF90-AC56E982A983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配图占位｜容器拓扑 / 仿真平台界面</a:t>
            </a:r>
          </a:p>
        </p:txBody>
      </p:sp>
      <p:sp>
        <p:nvSpPr>
          <p:cNvPr id="13" name="s4-image-hint">
            <a:extLst>
              <a:ext uri="{FF2B5EF4-FFF2-40B4-BE49-F238E27FC236}">
                <a16:creationId xmlns:a16="http://schemas.microsoft.com/office/drawing/2014/main" id="{BF55FCC1-EF83-4712-9EEC-9452776BB84C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0210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建议替换：Network Namespace 拓扑、OVS 链路图或平台运行截图</a:t>
            </a: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WORK PROJECT</a:t>
            </a:r>
          </a:p>
        </p:txBody>
      </p:sp>
      <p:cxnSp>
        <p:nvCxnSpPr>
          <p:cNvPr id="19" name="top-rule-4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APISIX / OpenResty 云原生网关：流量治理与访问控制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中信建投证券有限公司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助理工程师（实习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）· 2022.09—2022.12</a:t>
            </a:r>
          </a:p>
        </p:txBody>
      </p:sp>
      <p:sp>
        <p:nvSpPr>
          <p:cNvPr id="6" name="s4-context-label">
            <a:extLst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项目要点</a:t>
            </a:r>
          </a:p>
        </p:txBody>
      </p:sp>
      <p:sp>
        <p:nvSpPr>
          <p:cNvPr id="7" name="s4-context">
            <a:extLst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66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针对 Apache APISIX 现有能力，基于 OpenResty 开展云原生网关二次开发。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使用 nginx-lua 脚本实现 proxy 反向代理插件功能。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面向 APP 后端 IP 鉴权、风控与黑白名单等 API 请求，实现服务流量管控与监测。</a:t>
            </a:r>
          </a:p>
        </p:txBody>
      </p:sp>
      <p:sp>
        <p:nvSpPr>
          <p:cNvPr id="8" name="s4-question">
            <a:extLst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s4-question-text">
            <a:extLst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相关技术说明：网关插件在请求链路中承接鉴权、限流、监控等横切能力</a:t>
            </a:r>
          </a:p>
        </p:txBody>
      </p:sp>
      <p:sp>
        <p:nvSpPr>
          <p:cNvPr id="10" name="s4-image-frame">
            <a:extLst>
              <a:ext uri="{FF2B5EF4-FFF2-40B4-BE49-F238E27FC236}">
                <a16:creationId xmlns:a16="http://schemas.microsoft.com/office/drawing/2014/main" id="{AF8BFEDA-1AA0-4F54-9F44-1F363B27B0CB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1752600"/>
          </a:xfrm>
          <a:prstGeom prst="rect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4-image-band">
            <a:extLst>
              <a:ext uri="{FF2B5EF4-FFF2-40B4-BE49-F238E27FC236}">
                <a16:creationId xmlns:a16="http://schemas.microsoft.com/office/drawing/2014/main" id="{02327F5F-8BB3-4733-8499-166D1D5A7B93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3429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2" name="s4-image-label">
            <a:extLst>
              <a:ext uri="{FF2B5EF4-FFF2-40B4-BE49-F238E27FC236}">
                <a16:creationId xmlns:a16="http://schemas.microsoft.com/office/drawing/2014/main" id="{834646E1-DBF4-471B-BF90-AC56E982A983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配图占位｜网关请求链路 / 插件流程</a:t>
            </a:r>
          </a:p>
        </p:txBody>
      </p:sp>
      <p:sp>
        <p:nvSpPr>
          <p:cNvPr id="13" name="s4-image-hint">
            <a:extLst>
              <a:ext uri="{FF2B5EF4-FFF2-40B4-BE49-F238E27FC236}">
                <a16:creationId xmlns:a16="http://schemas.microsoft.com/office/drawing/2014/main" id="{BF55FCC1-EF83-4712-9EEC-9452776BB84C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0210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建议替换：APISIX 架构、OpenResty 插件链路或监控界面截图</a:t>
            </a: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WORK PROJECT</a:t>
            </a:r>
          </a:p>
        </p:txBody>
      </p:sp>
      <p:cxnSp>
        <p:nvCxnSpPr>
          <p:cNvPr id="19" name="top-rule-4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多模态视频分类：把标签预测转化为文本—视频检索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北京快手科技有限公司 · 算法实习生 · 2021.10—2022.01</a:t>
            </a:r>
          </a:p>
        </p:txBody>
      </p:sp>
      <p:sp>
        <p:nvSpPr>
          <p:cNvPr id="6" name="s4-context-label">
            <a:extLst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项目要点</a:t>
            </a:r>
          </a:p>
        </p:txBody>
      </p:sp>
      <p:sp>
        <p:nvSpPr>
          <p:cNvPr id="7" name="s4-context">
            <a:extLst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66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基于 Action-CLIP 融合标签文本与视频图像信息，将分类任务转化为检索任务。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该任务形式便于后续新增标签时复用文本—视频匹配能力。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在 KL 散度基础上加入 center loss 与 Triplet loss，达到 77% Top-1、93.5% Top-5。</a:t>
            </a:r>
          </a:p>
        </p:txBody>
      </p:sp>
      <p:sp>
        <p:nvSpPr>
          <p:cNvPr id="8" name="s4-question">
            <a:extLst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s4-question-text">
            <a:extLst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结果证据：Top-1 Acc 77%｜Top-5 Acc 93.5%</a:t>
            </a:r>
          </a:p>
        </p:txBody>
      </p:sp>
      <p:sp>
        <p:nvSpPr>
          <p:cNvPr id="10" name="s4-image-frame">
            <a:extLst>
              <a:ext uri="{FF2B5EF4-FFF2-40B4-BE49-F238E27FC236}">
                <a16:creationId xmlns:a16="http://schemas.microsoft.com/office/drawing/2014/main" id="{AF8BFEDA-1AA0-4F54-9F44-1F363B27B0CB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1752600"/>
          </a:xfrm>
          <a:prstGeom prst="rect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4-image-band">
            <a:extLst>
              <a:ext uri="{FF2B5EF4-FFF2-40B4-BE49-F238E27FC236}">
                <a16:creationId xmlns:a16="http://schemas.microsoft.com/office/drawing/2014/main" id="{02327F5F-8BB3-4733-8499-166D1D5A7B93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3429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2" name="s4-image-label">
            <a:extLst>
              <a:ext uri="{FF2B5EF4-FFF2-40B4-BE49-F238E27FC236}">
                <a16:creationId xmlns:a16="http://schemas.microsoft.com/office/drawing/2014/main" id="{834646E1-DBF4-471B-BF90-AC56E982A983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配图占位｜多模态检索框架 / 指标对比</a:t>
            </a:r>
          </a:p>
        </p:txBody>
      </p:sp>
      <p:sp>
        <p:nvSpPr>
          <p:cNvPr id="13" name="s4-image-hint">
            <a:extLst>
              <a:ext uri="{FF2B5EF4-FFF2-40B4-BE49-F238E27FC236}">
                <a16:creationId xmlns:a16="http://schemas.microsoft.com/office/drawing/2014/main" id="{BF55FCC1-EF83-4712-9EEC-9452776BB84C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0210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建议替换：Action-CLIP 流程、特征空间示意或准确率对比图</a:t>
            </a: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OTHER PROJECT</a:t>
            </a:r>
          </a:p>
        </p:txBody>
      </p:sp>
      <p:cxnSp>
        <p:nvCxnSpPr>
          <p:cNvPr id="19" name="top-rule-4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ROS 2 室内移动机器人：建图、定位、规划与恢复闭环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个人项目 · 2026.03—2026.06</a:t>
            </a:r>
          </a:p>
        </p:txBody>
      </p:sp>
      <p:sp>
        <p:nvSpPr>
          <p:cNvPr id="6" name="s4-context-label">
            <a:extLst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项目要点</a:t>
            </a:r>
          </a:p>
        </p:txBody>
      </p:sp>
      <p:sp>
        <p:nvSpPr>
          <p:cNvPr id="7" name="s4-context">
            <a:extLst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66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基于 Gazebo 搭建机器人仿真系统，集成 URDF/Xacro、TF2、激光雷达、里程计与 ros2_control。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使用 SLAM Toolbox 完成在线二维建图，结合 AMCL 与 Nav2 实现定位、规划、避障和导航。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针对动态障碍、局部规划失败和目标不可达设计 Recovery Behavior，并调节代价地图与控制器参数。</a:t>
            </a:r>
          </a:p>
        </p:txBody>
      </p:sp>
      <p:sp>
        <p:nvSpPr>
          <p:cNvPr id="8" name="s4-question">
            <a:extLst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s4-question-text">
            <a:extLst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相关技术说明：系统按感知—定位—规划—控制—恢复链路组织模块与验证场景</a:t>
            </a:r>
          </a:p>
        </p:txBody>
      </p:sp>
      <p:sp>
        <p:nvSpPr>
          <p:cNvPr id="10" name="s4-image-frame">
            <a:extLst>
              <a:ext uri="{FF2B5EF4-FFF2-40B4-BE49-F238E27FC236}">
                <a16:creationId xmlns:a16="http://schemas.microsoft.com/office/drawing/2014/main" id="{AF8BFEDA-1AA0-4F54-9F44-1F363B27B0CB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1752600"/>
          </a:xfrm>
          <a:prstGeom prst="rect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4-image-band">
            <a:extLst>
              <a:ext uri="{FF2B5EF4-FFF2-40B4-BE49-F238E27FC236}">
                <a16:creationId xmlns:a16="http://schemas.microsoft.com/office/drawing/2014/main" id="{02327F5F-8BB3-4733-8499-166D1D5A7B93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3429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2" name="s4-image-label">
            <a:extLst>
              <a:ext uri="{FF2B5EF4-FFF2-40B4-BE49-F238E27FC236}">
                <a16:creationId xmlns:a16="http://schemas.microsoft.com/office/drawing/2014/main" id="{834646E1-DBF4-471B-BF90-AC56E982A983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配图占位｜Gazebo 场景 / Nav2 路径</a:t>
            </a:r>
          </a:p>
        </p:txBody>
      </p:sp>
      <p:sp>
        <p:nvSpPr>
          <p:cNvPr id="13" name="s4-image-hint">
            <a:extLst>
              <a:ext uri="{FF2B5EF4-FFF2-40B4-BE49-F238E27FC236}">
                <a16:creationId xmlns:a16="http://schemas.microsoft.com/office/drawing/2014/main" id="{BF55FCC1-EF83-4712-9EEC-9452776BB84C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0210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建议替换：仿真场景、SLAM 地图、代价地图或导航轨迹截图</a:t>
            </a: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OTHER PROJECT</a:t>
            </a:r>
          </a:p>
        </p:txBody>
      </p:sp>
      <p:cxnSp>
        <p:nvCxnSpPr>
          <p:cNvPr id="19" name="top-rule-4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冠脉血管分割与部署：精度、Dice 与推理速度协同验证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科研项目 · 2021.04—2022.06</a:t>
            </a:r>
          </a:p>
        </p:txBody>
      </p:sp>
      <p:sp>
        <p:nvSpPr>
          <p:cNvPr id="6" name="s4-context-label">
            <a:extLst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项目要点</a:t>
            </a:r>
          </a:p>
        </p:txBody>
      </p:sp>
      <p:sp>
        <p:nvSpPr>
          <p:cNvPr id="7" name="s4-context">
            <a:extLst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66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基于 Res-UNet 与 Swin Transformer 完成冠脉造影图像语义分割和血管树构建。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分割精确度达到 98.5%，Dice 系数为 84.0%。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使用 C++ 与 Libtorch 开发接口，经 TensorRT 量化部署 Windows 全流程，推理速度达到 0.02 s/张。</a:t>
            </a:r>
          </a:p>
        </p:txBody>
      </p:sp>
      <p:sp>
        <p:nvSpPr>
          <p:cNvPr id="8" name="s4-question">
            <a:extLst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s4-question-text">
            <a:extLst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结果证据：Accuracy 98.5%｜Dice 84.0%｜TensorRT 0.02 s/张</a:t>
            </a:r>
          </a:p>
        </p:txBody>
      </p:sp>
      <p:sp>
        <p:nvSpPr>
          <p:cNvPr id="10" name="s4-image-frame">
            <a:extLst>
              <a:ext uri="{FF2B5EF4-FFF2-40B4-BE49-F238E27FC236}">
                <a16:creationId xmlns:a16="http://schemas.microsoft.com/office/drawing/2014/main" id="{AF8BFEDA-1AA0-4F54-9F44-1F363B27B0CB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1752600"/>
          </a:xfrm>
          <a:prstGeom prst="rect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4-image-band">
            <a:extLst>
              <a:ext uri="{FF2B5EF4-FFF2-40B4-BE49-F238E27FC236}">
                <a16:creationId xmlns:a16="http://schemas.microsoft.com/office/drawing/2014/main" id="{02327F5F-8BB3-4733-8499-166D1D5A7B93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3429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2" name="s4-image-label">
            <a:extLst>
              <a:ext uri="{FF2B5EF4-FFF2-40B4-BE49-F238E27FC236}">
                <a16:creationId xmlns:a16="http://schemas.microsoft.com/office/drawing/2014/main" id="{834646E1-DBF4-471B-BF90-AC56E982A983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配图占位｜分割结果 / 三维血管树</a:t>
            </a:r>
          </a:p>
        </p:txBody>
      </p:sp>
      <p:sp>
        <p:nvSpPr>
          <p:cNvPr id="13" name="s4-image-hint">
            <a:extLst>
              <a:ext uri="{FF2B5EF4-FFF2-40B4-BE49-F238E27FC236}">
                <a16:creationId xmlns:a16="http://schemas.microsoft.com/office/drawing/2014/main" id="{BF55FCC1-EF83-4712-9EEC-9452776BB84C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0210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建议替换：原始造影、分割掩膜、血管树重建或部署流程图</a:t>
            </a: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6590E139-7A73-4685-8CBD-0E81865ED6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OTHER PROJECT</a:t>
            </a:r>
          </a:p>
        </p:txBody>
      </p:sp>
      <p:cxnSp>
        <p:nvCxnSpPr>
          <p:cNvPr id="19" name="top-rule-4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4">
            <a:extLst>
              <a:ext uri="{FF2B5EF4-FFF2-40B4-BE49-F238E27FC236}">
                <a16:creationId xmlns:a16="http://schemas.microsoft.com/office/drawing/2014/main" id="{DAD29CB5-4A3C-4176-9062-B57B3C029DF6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4A15E404-B6F7-4F0C-BA57-2F02E1A10733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面向服务的机载运行平台：以 DDS 构建跨平台 RPC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5D16D6D5-8778-49EF-BC97-AEAC76CD3C9A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科研项目 · 2020.06—2021.06</a:t>
            </a:r>
          </a:p>
        </p:txBody>
      </p:sp>
      <p:sp>
        <p:nvSpPr>
          <p:cNvPr id="6" name="s4-context-label">
            <a:extLst>
              <a:ext uri="{FF2B5EF4-FFF2-40B4-BE49-F238E27FC236}">
                <a16:creationId xmlns:a16="http://schemas.microsoft.com/office/drawing/2014/main" id="{C68FC7CD-9064-4972-92CE-0EBCDDA6089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项目要点</a:t>
            </a:r>
          </a:p>
        </p:txBody>
      </p:sp>
      <p:sp>
        <p:nvSpPr>
          <p:cNvPr id="7" name="s4-context">
            <a:extLst>
              <a:ext uri="{FF2B5EF4-FFF2-40B4-BE49-F238E27FC236}">
                <a16:creationId xmlns:a16="http://schemas.microsoft.com/office/drawing/2014/main" id="{94A17979-9895-4151-B2D2-5E8F339D4C97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668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围绕先进航电架构，参与服务管理、组件开发工具链、通信中间件与数据测试软件开发。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基于 VxWorks 6.8 设计服务管理系统，实现基于 DDS 的跨平台 RPC 框架。</a:t>
            </a: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• 开发服务注册中心，支持注册、注销、信息更新，并维护服务契约与服务路由。</a:t>
            </a:r>
          </a:p>
        </p:txBody>
      </p:sp>
      <p:sp>
        <p:nvSpPr>
          <p:cNvPr id="8" name="s4-question">
            <a:extLst>
              <a:ext uri="{FF2B5EF4-FFF2-40B4-BE49-F238E27FC236}">
                <a16:creationId xmlns:a16="http://schemas.microsoft.com/office/drawing/2014/main" id="{4316A508-CDAF-4009-A89C-683FA8A0F1D7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" name="s4-question-text">
            <a:extLst>
              <a:ext uri="{FF2B5EF4-FFF2-40B4-BE49-F238E27FC236}">
                <a16:creationId xmlns:a16="http://schemas.microsoft.com/office/drawing/2014/main" id="{BAA37495-56DA-4C4C-8D4E-A72E80EF3765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021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技术主线：VxWorks 实时系统 / DDS 服务总线 / RPC / 服务注册与路由</a:t>
            </a:r>
          </a:p>
        </p:txBody>
      </p:sp>
      <p:sp>
        <p:nvSpPr>
          <p:cNvPr id="10" name="s4-image-frame">
            <a:extLst>
              <a:ext uri="{FF2B5EF4-FFF2-40B4-BE49-F238E27FC236}">
                <a16:creationId xmlns:a16="http://schemas.microsoft.com/office/drawing/2014/main" id="{AF8BFEDA-1AA0-4F54-9F44-1F363B27B0CB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1752600"/>
          </a:xfrm>
          <a:prstGeom prst="rect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4-image-band">
            <a:extLst>
              <a:ext uri="{FF2B5EF4-FFF2-40B4-BE49-F238E27FC236}">
                <a16:creationId xmlns:a16="http://schemas.microsoft.com/office/drawing/2014/main" id="{02327F5F-8BB3-4733-8499-166D1D5A7B93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668000" cy="34290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2" name="s4-image-label">
            <a:extLst>
              <a:ext uri="{FF2B5EF4-FFF2-40B4-BE49-F238E27FC236}">
                <a16:creationId xmlns:a16="http://schemas.microsoft.com/office/drawing/2014/main" id="{834646E1-DBF4-471B-BF90-AC56E982A983}"/>
              </a:ext>
            </a:extLst>
          </p:cNvPr>
          <p:cNvSpPr>
            <a:spLocks noGrp="1"/>
          </p:cNvSpPr>
          <p:nvPr/>
        </p:nvSpPr>
        <p:spPr>
          <a:xfrm>
            <a:off x="762000" y="4391025"/>
            <a:ext cx="10363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配图占位｜机载服务总线 / RPC 架构</a:t>
            </a:r>
          </a:p>
        </p:txBody>
      </p:sp>
      <p:sp>
        <p:nvSpPr>
          <p:cNvPr id="13" name="s4-image-hint">
            <a:extLst>
              <a:ext uri="{FF2B5EF4-FFF2-40B4-BE49-F238E27FC236}">
                <a16:creationId xmlns:a16="http://schemas.microsoft.com/office/drawing/2014/main" id="{BF55FCC1-EF83-4712-9EEC-9452776BB84C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0210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建议替换：服务化架构、注册中心流程或嵌入式运行平台截图</a:t>
            </a:r>
          </a:p>
        </p:txBody>
      </p:sp>
    </p:spTree>
    <p:extLst>
      <p:ext uri="{BB962C8B-B14F-4D97-AF65-F5344CB8AC3E}">
        <p14:creationId xmlns:p14="http://schemas.microsoft.com/office/powerpoint/2010/main" val="651608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10">
            <a:extLst>
              <a:ext uri="{FF2B5EF4-FFF2-40B4-BE49-F238E27FC236}">
                <a16:creationId xmlns:a16="http://schemas.microsoft.com/office/drawing/2014/main" id="{555AFDA7-F3B4-461A-B808-E96744D669D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SKILLS &amp; RESEARCH</a:t>
            </a:r>
          </a:p>
        </p:txBody>
      </p:sp>
      <p:cxnSp>
        <p:nvCxnSpPr>
          <p:cNvPr id="30" name="top-rule-10"/>
          <p:cNvCxnSpPr/>
          <p:nvPr/>
        </p:nvCxnSpPr>
        <p:spPr>
          <a:xfrm>
            <a:off x="609600" y="628650"/>
            <a:ext cx="1097280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3" name="page-10">
            <a:extLst>
              <a:ext uri="{FF2B5EF4-FFF2-40B4-BE49-F238E27FC236}">
                <a16:creationId xmlns:a16="http://schemas.microsoft.com/office/drawing/2014/main" id="{B277B6E5-C152-470A-8949-03C43E8B2324}"/>
              </a:ext>
            </a:extLst>
          </p:cNvPr>
          <p:cNvSpPr>
            <a:spLocks noGrp="1"/>
          </p:cNvSpPr>
          <p:nvPr/>
        </p:nvSpPr>
        <p:spPr>
          <a:xfrm>
            <a:off x="11049000" y="636270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itle-10">
            <a:extLst>
              <a:ext uri="{FF2B5EF4-FFF2-40B4-BE49-F238E27FC236}">
                <a16:creationId xmlns:a16="http://schemas.microsoft.com/office/drawing/2014/main" id="{8EE7ABE7-42E6-41B0-96ED-FDBFE030A96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技术栈与研究成果，形成跨层工程能力闭环</a:t>
            </a:r>
          </a:p>
        </p:txBody>
      </p:sp>
      <p:sp>
        <p:nvSpPr>
          <p:cNvPr id="5" name="subtitle-10">
            <a:extLst>
              <a:ext uri="{FF2B5EF4-FFF2-40B4-BE49-F238E27FC236}">
                <a16:creationId xmlns:a16="http://schemas.microsoft.com/office/drawing/2014/main" id="{579C3BE7-B7A1-4E1D-A2E5-74B377A067A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C++ / Linux 系统开发延伸到网络协议、机器人、视觉算法与边缘部署</a:t>
            </a:r>
          </a:p>
        </p:txBody>
      </p:sp>
      <p:sp>
        <p:nvSpPr>
          <p:cNvPr id="6" name="s10-left-head">
            <a:extLst>
              <a:ext uri="{FF2B5EF4-FFF2-40B4-BE49-F238E27FC236}">
                <a16:creationId xmlns:a16="http://schemas.microsoft.com/office/drawing/2014/main" id="{18A80D23-31C8-4A7C-B5AC-EAABE0E48C14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核心技术栈</a:t>
            </a:r>
          </a:p>
        </p:txBody>
      </p:sp>
      <p:sp>
        <p:nvSpPr>
          <p:cNvPr id="7" name="s10-left">
            <a:extLst>
              <a:ext uri="{FF2B5EF4-FFF2-40B4-BE49-F238E27FC236}">
                <a16:creationId xmlns:a16="http://schemas.microsoft.com/office/drawing/2014/main" id="{6247A7E4-B44A-4CD4-BE09-EBC4E6FD39B8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4476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01  C/C++ · Python · Lua · Linux</a:t>
            </a:r>
          </a:p>
          <a:p>
            <a:endParaRPr sz="1500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02  TCP/IP · OSPFv2 · DDS · CAN · TSN · QoS</a:t>
            </a:r>
          </a:p>
          <a:p>
            <a:endParaRPr sz="1500" b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03  Docker · Kubernetes · OVS · eBPF · FRR</a:t>
            </a:r>
          </a:p>
        </p:txBody>
      </p:sp>
      <p:cxnSp>
        <p:nvCxnSpPr>
          <p:cNvPr id="36" name="s10-divider"/>
          <p:cNvCxnSpPr/>
          <p:nvPr/>
        </p:nvCxnSpPr>
        <p:spPr>
          <a:xfrm>
            <a:off x="5829300" y="2305050"/>
            <a:ext cx="0" cy="3429000"/>
          </a:xfrm>
          <a:prstGeom prst="straightConnector1">
            <a:avLst/>
          </a:prstGeom>
          <a:ln w="19050">
            <a:solidFill>
              <a:srgbClr val="E2E8F0"/>
            </a:solidFill>
            <a:prstDash val="solid"/>
          </a:ln>
        </p:spPr>
      </p:cxnSp>
      <p:sp>
        <p:nvSpPr>
          <p:cNvPr id="9" name="s10-right-head">
            <a:extLst>
              <a:ext uri="{FF2B5EF4-FFF2-40B4-BE49-F238E27FC236}">
                <a16:creationId xmlns:a16="http://schemas.microsoft.com/office/drawing/2014/main" id="{D84CDE1C-FA4B-443A-9100-8EF24B60288A}"/>
              </a:ext>
            </a:extLst>
          </p:cNvPr>
          <p:cNvSpPr>
            <a:spLocks noGrp="1"/>
          </p:cNvSpPr>
          <p:nvPr/>
        </p:nvSpPr>
        <p:spPr>
          <a:xfrm>
            <a:off x="6496050" y="23812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研究成果与工程延伸</a:t>
            </a:r>
          </a:p>
        </p:txBody>
      </p:sp>
      <p:sp>
        <p:nvSpPr>
          <p:cNvPr id="10" name="s10-right">
            <a:extLst>
              <a:ext uri="{FF2B5EF4-FFF2-40B4-BE49-F238E27FC236}">
                <a16:creationId xmlns:a16="http://schemas.microsoft.com/office/drawing/2014/main" id="{55364F38-AC95-44B2-9868-B6ECF649400E}"/>
              </a:ext>
            </a:extLst>
          </p:cNvPr>
          <p:cNvSpPr>
            <a:spLocks noGrp="1"/>
          </p:cNvSpPr>
          <p:nvPr/>
        </p:nvSpPr>
        <p:spPr>
          <a:xfrm>
            <a:off x="6496050" y="3009900"/>
            <a:ext cx="4476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  ICGNC 2022 论文：Boundary-Aware Transformer-UNet</a:t>
            </a:r>
          </a:p>
          <a:p>
            <a:endParaRPr sz="1500" b="0">
              <a:solidFill>
                <a:srgbClr val="47556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  卫星算力网络及管控方法（CN202410602943.5）</a:t>
            </a:r>
          </a:p>
          <a:p>
            <a:endParaRPr sz="1500" b="0">
              <a:solidFill>
                <a:srgbClr val="47556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  自动祛痣手术方法及系统（CN201911413500.7）</a:t>
            </a:r>
          </a:p>
        </p:txBody>
      </p:sp>
      <p:sp>
        <p:nvSpPr>
          <p:cNvPr id="11" name="s10-bottom">
            <a:extLst>
              <a:ext uri="{FF2B5EF4-FFF2-40B4-BE49-F238E27FC236}">
                <a16:creationId xmlns:a16="http://schemas.microsoft.com/office/drawing/2014/main" id="{4A951FCC-8390-4B75-9F9E-A962B57ECA7F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0363200" cy="666750"/>
          </a:xfrm>
          <a:prstGeom prst="rect">
            <a:avLst/>
          </a:prstGeom>
          <a:solidFill>
            <a:srgbClr val="EAF4FF"/>
          </a:solidFill>
          <a:ln w="0">
            <a:noFill/>
            <a:prstDash val="solid"/>
          </a:ln>
        </p:spPr>
      </p:sp>
      <p:sp>
        <p:nvSpPr>
          <p:cNvPr id="12" name="s10-bottom-text">
            <a:extLst>
              <a:ext uri="{FF2B5EF4-FFF2-40B4-BE49-F238E27FC236}">
                <a16:creationId xmlns:a16="http://schemas.microsoft.com/office/drawing/2014/main" id="{630FC546-96F7-46EB-85B1-3E4248A5D1CD}"/>
              </a:ext>
            </a:extLst>
          </p:cNvPr>
          <p:cNvSpPr>
            <a:spLocks noGrp="1"/>
          </p:cNvSpPr>
          <p:nvPr/>
        </p:nvSpPr>
        <p:spPr>
          <a:xfrm>
            <a:off x="838200" y="5543550"/>
            <a:ext cx="9867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工程延伸：参与 10 Gbps 级卫星信息总线、CAN / TSN / DDS 分层通信与星地无线链路协议设计</a:t>
            </a:r>
          </a:p>
        </p:txBody>
      </p:sp>
    </p:spTree>
    <p:extLst>
      <p:ext uri="{BB962C8B-B14F-4D97-AF65-F5344CB8AC3E}">
        <p14:creationId xmlns:p14="http://schemas.microsoft.com/office/powerpoint/2010/main" val="18117428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DocSecurity>0</DocSecurity>
  <PresentationFormat>宽屏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jinglong Cao</cp:lastModifiedBy>
  <cp:revision>1</cp:revision>
  <dcterms:created xsi:type="dcterms:W3CDTF">2026-07-18T10:51:15Z</dcterms:created>
  <dcterms:modified xsi:type="dcterms:W3CDTF">2026-07-19T03:28:46Z</dcterms:modified>
</cp:coreProperties>
</file>