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608e1abe84406" /><Relationship Type="http://schemas.openxmlformats.org/officeDocument/2006/relationships/extended-properties" Target="/docProps/app.xml" Id="R5cdb7d23cdec4158" /><Relationship Type="http://schemas.openxmlformats.org/officeDocument/2006/relationships/officeDocument" Target="/ppt/presentation.xml" Id="R9d4c1588fa7247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18adaa58024c6a"/>
  </p:sldMasterIdLst>
  <p:notesMasterIdLst>
    <p:notesMasterId xmlns:r="http://schemas.openxmlformats.org/officeDocument/2006/relationships" r:id="Rb855e5b6d66f4a2b"/>
  </p:notesMasterIdLst>
  <p:sldIdLst>
    <p:sldId xmlns:r="http://schemas.openxmlformats.org/officeDocument/2006/relationships" id="256" r:id="R97533493cf024279"/>
    <p:sldId xmlns:r="http://schemas.openxmlformats.org/officeDocument/2006/relationships" id="257" r:id="Raf07343869694b6f"/>
    <p:sldId xmlns:r="http://schemas.openxmlformats.org/officeDocument/2006/relationships" id="258" r:id="Rde62a13de49a4d58"/>
    <p:sldId xmlns:r="http://schemas.openxmlformats.org/officeDocument/2006/relationships" id="259" r:id="R3bbd10b805234bd7"/>
    <p:sldId xmlns:r="http://schemas.openxmlformats.org/officeDocument/2006/relationships" id="260" r:id="Rcd28cb3fc93d4f75"/>
    <p:sldId xmlns:r="http://schemas.openxmlformats.org/officeDocument/2006/relationships" id="261" r:id="Rf1a2989465974a83"/>
    <p:sldId xmlns:r="http://schemas.openxmlformats.org/officeDocument/2006/relationships" id="262" r:id="Rf74e7fcfa217481c"/>
    <p:sldId xmlns:r="http://schemas.openxmlformats.org/officeDocument/2006/relationships" id="263" r:id="R8d4e1c30055f40e8"/>
    <p:sldId xmlns:r="http://schemas.openxmlformats.org/officeDocument/2006/relationships" id="264" r:id="Ra0ed540568724d83"/>
    <p:sldId xmlns:r="http://schemas.openxmlformats.org/officeDocument/2006/relationships" id="265" r:id="R73466b77df0247b9"/>
    <p:sldId xmlns:r="http://schemas.openxmlformats.org/officeDocument/2006/relationships" id="266" r:id="R055a6c6775cd4641"/>
    <p:sldId xmlns:r="http://schemas.openxmlformats.org/officeDocument/2006/relationships" id="267" r:id="R8becae76ecfb44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d9df6152b421d" /><Relationship Type="http://schemas.openxmlformats.org/officeDocument/2006/relationships/slideMaster" Target="/ppt/slideMasters/slideMaster1.xml" Id="R1c18adaa58024c6a" /><Relationship Type="http://schemas.openxmlformats.org/officeDocument/2006/relationships/notesMaster" Target="/ppt/notesMasters/notesMaster1.xml" Id="Rb855e5b6d66f4a2b" /><Relationship Type="http://schemas.openxmlformats.org/officeDocument/2006/relationships/presProps" Target="/ppt/presProps.xml" Id="R1f5b0dd2f1d14d61" /><Relationship Type="http://schemas.openxmlformats.org/officeDocument/2006/relationships/tableStyles" Target="/ppt/tableStyles.xml" Id="Rc8cc1ddae9794a83" /><Relationship Type="http://schemas.openxmlformats.org/officeDocument/2006/relationships/slide" Target="/ppt/slides/slide1.xml" Id="R97533493cf024279" /><Relationship Type="http://schemas.openxmlformats.org/officeDocument/2006/relationships/slide" Target="/ppt/slides/slide2.xml" Id="Raf07343869694b6f" /><Relationship Type="http://schemas.openxmlformats.org/officeDocument/2006/relationships/slide" Target="/ppt/slides/slide3.xml" Id="Rde62a13de49a4d58" /><Relationship Type="http://schemas.openxmlformats.org/officeDocument/2006/relationships/slide" Target="/ppt/slides/slide4.xml" Id="R3bbd10b805234bd7" /><Relationship Type="http://schemas.openxmlformats.org/officeDocument/2006/relationships/slide" Target="/ppt/slides/slide5.xml" Id="Rcd28cb3fc93d4f75" /><Relationship Type="http://schemas.openxmlformats.org/officeDocument/2006/relationships/slide" Target="/ppt/slides/slide6.xml" Id="Rf1a2989465974a83" /><Relationship Type="http://schemas.openxmlformats.org/officeDocument/2006/relationships/slide" Target="/ppt/slides/slide7.xml" Id="Rf74e7fcfa217481c" /><Relationship Type="http://schemas.openxmlformats.org/officeDocument/2006/relationships/slide" Target="/ppt/slides/slide8.xml" Id="R8d4e1c30055f40e8" /><Relationship Type="http://schemas.openxmlformats.org/officeDocument/2006/relationships/slide" Target="/ppt/slides/slide9.xml" Id="Ra0ed540568724d83" /><Relationship Type="http://schemas.openxmlformats.org/officeDocument/2006/relationships/slide" Target="/ppt/slides/slide10.xml" Id="R73466b77df0247b9" /><Relationship Type="http://schemas.openxmlformats.org/officeDocument/2006/relationships/slide" Target="/ppt/slides/slide11.xml" Id="R055a6c6775cd4641" /><Relationship Type="http://schemas.openxmlformats.org/officeDocument/2006/relationships/slide" Target="/ppt/slides/slide12.xml" Id="R8becae76ecfb44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0ab73db0445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1786f80614cb1" /><Relationship Type="http://schemas.openxmlformats.org/officeDocument/2006/relationships/notesMaster" Target="/ppt/notesMasters/notesMaster1.xml" Id="R04d0db5944b644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8d0fd72734b1f" /><Relationship Type="http://schemas.openxmlformats.org/officeDocument/2006/relationships/notesMaster" Target="/ppt/notesMasters/notesMaster1.xml" Id="R6f0af52c8f0f43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7caf8e77c44db" /><Relationship Type="http://schemas.openxmlformats.org/officeDocument/2006/relationships/notesMaster" Target="/ppt/notesMasters/notesMaster1.xml" Id="Rb241196986a4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ba27934be04f8a" /><Relationship Type="http://schemas.openxmlformats.org/officeDocument/2006/relationships/notesMaster" Target="/ppt/notesMasters/notesMaster1.xml" Id="Re23c824046a8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87d5486c34fee" /><Relationship Type="http://schemas.openxmlformats.org/officeDocument/2006/relationships/notesMaster" Target="/ppt/notesMasters/notesMaster1.xml" Id="R02829b69c33e4f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d7f5c019b4138" /><Relationship Type="http://schemas.openxmlformats.org/officeDocument/2006/relationships/notesMaster" Target="/ppt/notesMasters/notesMaster1.xml" Id="R3d559ec9d00741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4f43af0a7b41c7" /><Relationship Type="http://schemas.openxmlformats.org/officeDocument/2006/relationships/notesMaster" Target="/ppt/notesMasters/notesMaster1.xml" Id="R44d1edfb2cea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4523af808a4751" /><Relationship Type="http://schemas.openxmlformats.org/officeDocument/2006/relationships/notesMaster" Target="/ppt/notesMasters/notesMaster1.xml" Id="R3cddc1c5332441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08f1bc4cfd4bb2" /><Relationship Type="http://schemas.openxmlformats.org/officeDocument/2006/relationships/notesMaster" Target="/ppt/notesMasters/notesMaster1.xml" Id="Rb5bd92101d4f48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6158fb3e814bad" /><Relationship Type="http://schemas.openxmlformats.org/officeDocument/2006/relationships/notesMaster" Target="/ppt/notesMasters/notesMaster1.xml" Id="R6a18b44b055441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0ecd47137e4cfe" /><Relationship Type="http://schemas.openxmlformats.org/officeDocument/2006/relationships/notesMaster" Target="/ppt/notesMasters/notesMaster1.xml" Id="R95addba0502e4f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63e6ea89454582" /><Relationship Type="http://schemas.openxmlformats.org/officeDocument/2006/relationships/notesMaster" Target="/ppt/notesMasters/notesMaster1.xml" Id="Re8c12dd32ec146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28f09ccd042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b716db42204d90" /><Relationship Type="http://schemas.openxmlformats.org/officeDocument/2006/relationships/slideLayout" Target="/ppt/slideLayouts/slideLayout1.xml" Id="R599e8879d48242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e8879d48242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0296f36c340ec" /><Relationship Type="http://schemas.openxmlformats.org/officeDocument/2006/relationships/notesSlide" Target="/ppt/notesSlides/notesSlide1.xml" Id="Rb30790900346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309357a44410" /><Relationship Type="http://schemas.openxmlformats.org/officeDocument/2006/relationships/notesSlide" Target="/ppt/notesSlides/notesSlide2.xml" Id="Ra85a791257a7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8fa8926724039" /><Relationship Type="http://schemas.openxmlformats.org/officeDocument/2006/relationships/notesSlide" Target="/ppt/notesSlides/notesSlide3.xml" Id="Rb20651bfac84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fe1f493f24688" /><Relationship Type="http://schemas.openxmlformats.org/officeDocument/2006/relationships/notesSlide" Target="/ppt/notesSlides/notesSlide4.xml" Id="Rc8290f48826a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081ddb70d458a" /><Relationship Type="http://schemas.openxmlformats.org/officeDocument/2006/relationships/notesSlide" Target="/ppt/notesSlides/notesSlide5.xml" Id="Rdf72a8ec3dac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8873074f54535" /><Relationship Type="http://schemas.openxmlformats.org/officeDocument/2006/relationships/notesSlide" Target="/ppt/notesSlides/notesSlide6.xml" Id="Rfb87699e951a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9532b56e14d6e" /><Relationship Type="http://schemas.openxmlformats.org/officeDocument/2006/relationships/notesSlide" Target="/ppt/notesSlides/notesSlide7.xml" Id="R506d610cde1140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39a8cad334419" /><Relationship Type="http://schemas.openxmlformats.org/officeDocument/2006/relationships/chart" Target="/ppt/slides/charts/chart1.xml" Id="Ref91bf25766f4784" /><Relationship Type="http://schemas.openxmlformats.org/officeDocument/2006/relationships/notesSlide" Target="/ppt/notesSlides/notesSlide8.xml" Id="R7673a1cd186843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6862f214546f8" /><Relationship Type="http://schemas.openxmlformats.org/officeDocument/2006/relationships/notesSlide" Target="/ppt/notesSlides/notesSlide9.xml" Id="Rdf662b0588414d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30b353c6f4e3c" /><Relationship Type="http://schemas.openxmlformats.org/officeDocument/2006/relationships/notesSlide" Target="/ppt/notesSlides/notesSlide10.xml" Id="R631aeaf1b398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5f26d6bb146cc" /><Relationship Type="http://schemas.openxmlformats.org/officeDocument/2006/relationships/notesSlide" Target="/ppt/notesSlides/notesSlide11.xml" Id="Rf2d5f5c118f549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c02f64f294ac8" /><Relationship Type="http://schemas.openxmlformats.org/officeDocument/2006/relationships/notesSlide" Target="/ppt/notesSlides/notesSlide12.xml" Id="R7bbf4a1bbc0c44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CBD5E1"/>
            </a:solidFill>
          </c:spPr>
          <c:cat>
            <c:strLit>
              <c:ptCount val="3"/>
              <c:pt idx="0">
                <c:v>Dataset A</c:v>
              </c:pt>
              <c:pt idx="1">
                <c:v>Dataset B</c:v>
              </c:pt>
              <c:pt idx="2">
                <c:v>Dataset C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68</c:v>
              </c:pt>
              <c:pt idx="2">
                <c:v>75</c:v>
              </c:pt>
            </c:numLit>
          </c:val>
        </c:ser>
        <c:ser>
          <c:idx val="1"/>
          <c:order val="1"/>
          <c:tx>
            <c:v>Ours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Dataset A</c:v>
              </c:pt>
              <c:pt idx="1">
                <c:v>Dataset B</c:v>
              </c:pt>
              <c:pt idx="2">
                <c:v>Dataset C</c:v>
              </c:pt>
            </c:strLit>
          </c:cat>
          <c:val>
            <c:numLit>
              <c:formatCode>General</c:formatCode>
              <c:ptCount val="3"/>
              <c:pt idx="0">
                <c:v>84</c:v>
              </c:pt>
              <c:pt idx="1">
                <c:v>81</c:v>
              </c:pt>
              <c:pt idx="2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475569"/>
                    </a:solidFill>
                  </a:rPr>
                  <a:t>主要指标（%）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blue-field">
            <a:extLst xmlns:a="http://schemas.openxmlformats.org/drawingml/2006/main">
              <a:ext uri="{FF2B5EF4-FFF2-40B4-BE49-F238E27FC236}">
                <a16:creationId xmlns:a16="http://schemas.microsoft.com/office/drawing/2014/main" id="{E22EA75C-A009-4C4D-B9A2-48533D6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75A0B47-93CE-4916-B7AF-1D25A884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label">
            <a:extLst xmlns:a="http://schemas.openxmlformats.org/drawingml/2006/main">
              <a:ext uri="{FF2B5EF4-FFF2-40B4-BE49-F238E27FC236}">
                <a16:creationId xmlns:a16="http://schemas.microsoft.com/office/drawing/2014/main" id="{5E9839D7-68EF-42BA-B3F6-C520E8B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PRESENTATION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A0F460-4C5E-43ED-956F-D5675A9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33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[论文 / 课题名称]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6E9F348-A1B4-47D2-AB9A-695D6AB2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[一句话说明研究对象、问题与核心目标]</a:t>
            </a:r>
          </a:p>
        </p:txBody>
      </p:sp>
      <p:cxnSp>
        <p:nvCxnSpPr>
          <p:cNvPr id="14" name="cover-short-rule"/>
          <p:cNvCxnSpPr/>
          <p:nvPr/>
        </p:nvCxnSpPr>
        <p:spPr>
          <a:xfrm xmlns:a="http://schemas.openxmlformats.org/drawingml/2006/main">
            <a:off x="609600" y="40005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4F8E1A69-4EE3-4C36-82C5-AA86B5A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汇报人：[姓名]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单位：[学校 / 实验室 / 机构]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日期：[YYYY.MM.DD]</a:t>
            </a:r>
          </a:p>
        </p:txBody>
      </p:sp>
      <p:sp>
        <p:nvSpPr>
          <p:cNvPr id="8" name="cover-side">
            <a:extLst xmlns:a="http://schemas.openxmlformats.org/drawingml/2006/main">
              <a:ext uri="{FF2B5EF4-FFF2-40B4-BE49-F238E27FC236}">
                <a16:creationId xmlns:a16="http://schemas.microsoft.com/office/drawing/2014/main" id="{33186D6C-DEB7-4A3C-BDE5-6035F2DE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76400"/>
            <a:ext cx="219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QUESTION</a:t>
            </a:r>
          </a:p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634665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">
            <a:extLst xmlns:a="http://schemas.openxmlformats.org/drawingml/2006/main">
              <a:ext uri="{FF2B5EF4-FFF2-40B4-BE49-F238E27FC236}">
                <a16:creationId xmlns:a16="http://schemas.microsoft.com/office/drawing/2014/main" id="{C7578D0C-4721-43C8-AD17-5249260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19" name="top-rule-2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3E63B854-E543-44F1-A205-0329D6BF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2-eyebrow">
            <a:extLst xmlns:a="http://schemas.openxmlformats.org/drawingml/2006/main">
              <a:ext uri="{FF2B5EF4-FFF2-40B4-BE49-F238E27FC236}">
                <a16:creationId xmlns:a16="http://schemas.microsoft.com/office/drawing/2014/main" id="{7BC42D55-6103-48FD-9054-EBBD179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CORE TAKEAWAY</a:t>
            </a:r>
          </a:p>
        </p:txBody>
      </p:sp>
      <p:sp>
        <p:nvSpPr>
          <p:cNvPr id="5" name="s2-title">
            <a:extLst xmlns:a="http://schemas.openxmlformats.org/drawingml/2006/main">
              <a:ext uri="{FF2B5EF4-FFF2-40B4-BE49-F238E27FC236}">
                <a16:creationId xmlns:a16="http://schemas.microsoft.com/office/drawing/2014/main" id="{BF19830A-EC58-4E9E-86C9-4557E279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[用一句完整结论概括本次汇报]</a:t>
            </a:r>
          </a:p>
        </p:txBody>
      </p:sp>
      <p:sp>
        <p:nvSpPr>
          <p:cNvPr id="6" name="s2-desc">
            <a:extLst xmlns:a="http://schemas.openxmlformats.org/drawingml/2006/main">
              <a:ext uri="{FF2B5EF4-FFF2-40B4-BE49-F238E27FC236}">
                <a16:creationId xmlns:a16="http://schemas.microsoft.com/office/drawing/2014/main" id="{1AA1897F-E92B-480C-8808-14910AA0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用一到两句话解释为什么这个结论重要，以及它解决了什么研究或工程问题。</a:t>
            </a:r>
          </a:p>
        </p:txBody>
      </p:sp>
      <p:sp>
        <p:nvSpPr>
          <p:cNvPr id="7" name="s2-metric-label-0">
            <a:extLst xmlns:a="http://schemas.openxmlformats.org/drawingml/2006/main">
              <a:ext uri="{FF2B5EF4-FFF2-40B4-BE49-F238E27FC236}">
                <a16:creationId xmlns:a16="http://schemas.microsoft.com/office/drawing/2014/main" id="{57865613-4AD4-412B-8936-9D56A2E7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[指标 01]</a:t>
            </a:r>
          </a:p>
        </p:txBody>
      </p:sp>
      <p:sp>
        <p:nvSpPr>
          <p:cNvPr id="8" name="s2-metric-value-0">
            <a:extLst xmlns:a="http://schemas.openxmlformats.org/drawingml/2006/main">
              <a:ext uri="{FF2B5EF4-FFF2-40B4-BE49-F238E27FC236}">
                <a16:creationId xmlns:a16="http://schemas.microsoft.com/office/drawing/2014/main" id="{049FB342-DEDE-455F-BFBC-27903D6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[关键数值]</a:t>
            </a:r>
          </a:p>
        </p:txBody>
      </p:sp>
      <p:sp>
        <p:nvSpPr>
          <p:cNvPr id="9" name="s2-metric-desc-0">
            <a:extLst xmlns:a="http://schemas.openxmlformats.org/drawingml/2006/main">
              <a:ext uri="{FF2B5EF4-FFF2-40B4-BE49-F238E27FC236}">
                <a16:creationId xmlns:a16="http://schemas.microsoft.com/office/drawing/2014/main" id="{6B66FD64-A9BB-4B87-A419-DA0447A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[指标含义或对比基线]</a:t>
            </a:r>
          </a:p>
        </p:txBody>
      </p:sp>
      <p:cxnSp>
        <p:nvCxnSpPr>
          <p:cNvPr id="27" name="s2-divider-1"/>
          <p:cNvCxnSpPr/>
          <p:nvPr/>
        </p:nvCxnSpPr>
        <p:spPr>
          <a:xfrm xmlns:a="http://schemas.openxmlformats.org/drawingml/2006/main">
            <a:off x="3981450" y="409575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E8F0"/>
            </a:solidFill>
            <a:prstDash val="solid"/>
          </a:ln>
        </p:spPr>
      </p:cxnSp>
      <p:sp>
        <p:nvSpPr>
          <p:cNvPr id="11" name="s2-metric-label-1">
            <a:extLst xmlns:a="http://schemas.openxmlformats.org/drawingml/2006/main">
              <a:ext uri="{FF2B5EF4-FFF2-40B4-BE49-F238E27FC236}">
                <a16:creationId xmlns:a16="http://schemas.microsoft.com/office/drawing/2014/main" id="{AACC65BF-FC7D-46BF-ABB3-DD0A98E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9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[指标 02]</a:t>
            </a:r>
          </a:p>
        </p:txBody>
      </p:sp>
      <p:sp>
        <p:nvSpPr>
          <p:cNvPr id="12" name="s2-metric-value-1">
            <a:extLst xmlns:a="http://schemas.openxmlformats.org/drawingml/2006/main">
              <a:ext uri="{FF2B5EF4-FFF2-40B4-BE49-F238E27FC236}">
                <a16:creationId xmlns:a16="http://schemas.microsoft.com/office/drawing/2014/main" id="{1EBF8221-941C-42B9-9A18-9CE61D6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[关键数值]</a:t>
            </a:r>
          </a:p>
        </p:txBody>
      </p:sp>
      <p:sp>
        <p:nvSpPr>
          <p:cNvPr id="13" name="s2-metric-desc-1">
            <a:extLst xmlns:a="http://schemas.openxmlformats.org/drawingml/2006/main">
              <a:ext uri="{FF2B5EF4-FFF2-40B4-BE49-F238E27FC236}">
                <a16:creationId xmlns:a16="http://schemas.microsoft.com/office/drawing/2014/main" id="{79EE6161-E26D-4E54-9F73-9AA645FD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[指标含义或实验条件]</a:t>
            </a:r>
          </a:p>
        </p:txBody>
      </p:sp>
      <p:cxnSp>
        <p:nvCxnSpPr>
          <p:cNvPr id="31" name="s2-divider-2"/>
          <p:cNvCxnSpPr/>
          <p:nvPr/>
        </p:nvCxnSpPr>
        <p:spPr>
          <a:xfrm xmlns:a="http://schemas.openxmlformats.org/drawingml/2006/main">
            <a:off x="7639050" y="409575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E8F0"/>
            </a:solidFill>
            <a:prstDash val="solid"/>
          </a:ln>
        </p:spPr>
      </p:cxnSp>
      <p:sp>
        <p:nvSpPr>
          <p:cNvPr id="15" name="s2-metric-label-2">
            <a:extLst xmlns:a="http://schemas.openxmlformats.org/drawingml/2006/main">
              <a:ext uri="{FF2B5EF4-FFF2-40B4-BE49-F238E27FC236}">
                <a16:creationId xmlns:a16="http://schemas.microsoft.com/office/drawing/2014/main" id="{B4D0654D-2EB9-49BC-912A-985C5AF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[指标 03]</a:t>
            </a:r>
          </a:p>
        </p:txBody>
      </p:sp>
      <p:sp>
        <p:nvSpPr>
          <p:cNvPr id="16" name="s2-metric-value-2">
            <a:extLst xmlns:a="http://schemas.openxmlformats.org/drawingml/2006/main">
              <a:ext uri="{FF2B5EF4-FFF2-40B4-BE49-F238E27FC236}">
                <a16:creationId xmlns:a16="http://schemas.microsoft.com/office/drawing/2014/main" id="{E4150D1A-C084-488B-BF3B-13778FF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[关键数值]</a:t>
            </a:r>
          </a:p>
        </p:txBody>
      </p:sp>
      <p:sp>
        <p:nvSpPr>
          <p:cNvPr id="17" name="s2-metric-desc-2">
            <a:extLst xmlns:a="http://schemas.openxmlformats.org/drawingml/2006/main">
              <a:ext uri="{FF2B5EF4-FFF2-40B4-BE49-F238E27FC236}">
                <a16:creationId xmlns:a16="http://schemas.microsoft.com/office/drawing/2014/main" id="{DD8F691B-C9C5-4F17-BE75-AB152F8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[指标含义或实际价值]</a:t>
            </a:r>
          </a:p>
        </p:txBody>
      </p:sp>
    </p:spTree>
    <p:extLst>
      <p:ext uri="{BB962C8B-B14F-4D97-AF65-F5344CB8AC3E}">
        <p14:creationId xmlns:p14="http://schemas.microsoft.com/office/powerpoint/2010/main" val="1617365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3">
            <a:extLst xmlns:a="http://schemas.openxmlformats.org/drawingml/2006/main">
              <a:ext uri="{FF2B5EF4-FFF2-40B4-BE49-F238E27FC236}">
                <a16:creationId xmlns:a16="http://schemas.microsoft.com/office/drawing/2014/main" id="{B6F27879-7825-49A7-BBC0-AD1D3D5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23" name="top-rule-3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DEC4C4B-B6C5-4608-8170-D378180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71D47DD2-1528-474D-AF48-268381F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汇报围绕四个问题逐步展开</a:t>
            </a:r>
          </a:p>
        </p:txBody>
      </p:sp>
      <p:sp>
        <p:nvSpPr>
          <p:cNvPr id="5" name="subtitle-3">
            <a:extLst xmlns:a="http://schemas.openxmlformats.org/drawingml/2006/main">
              <a:ext uri="{FF2B5EF4-FFF2-40B4-BE49-F238E27FC236}">
                <a16:creationId xmlns:a16="http://schemas.microsoft.com/office/drawing/2014/main" id="{A1B0FA29-A0F9-42CA-A672-00A343A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将目录写成问题，比只列章节名称更容易建立叙事主线。</a:t>
            </a:r>
          </a:p>
        </p:txBody>
      </p:sp>
      <p:sp>
        <p:nvSpPr>
          <p:cNvPr id="6" name="s3-num-0">
            <a:extLst xmlns:a="http://schemas.openxmlformats.org/drawingml/2006/main">
              <a:ext uri="{FF2B5EF4-FFF2-40B4-BE49-F238E27FC236}">
                <a16:creationId xmlns:a16="http://schemas.microsoft.com/office/drawing/2014/main" id="{37163314-9861-43A6-883E-2547629B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3-title-0">
            <a:extLst xmlns:a="http://schemas.openxmlformats.org/drawingml/2006/main">
              <a:ext uri="{FF2B5EF4-FFF2-40B4-BE49-F238E27FC236}">
                <a16:creationId xmlns:a16="http://schemas.microsoft.com/office/drawing/2014/main" id="{76E01E5B-D200-481B-8C4E-64B2EDD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为什么值得研究？</a:t>
            </a:r>
          </a:p>
        </p:txBody>
      </p:sp>
      <p:sp>
        <p:nvSpPr>
          <p:cNvPr id="8" name="s3-body-0">
            <a:extLst xmlns:a="http://schemas.openxmlformats.org/drawingml/2006/main">
              <a:ext uri="{FF2B5EF4-FFF2-40B4-BE49-F238E27FC236}">
                <a16:creationId xmlns:a16="http://schemas.microsoft.com/office/drawing/2014/main" id="{04058383-4FAF-4C0A-8F5E-32320A1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背景、现实需求与现有方法的不足</a:t>
            </a:r>
          </a:p>
        </p:txBody>
      </p:sp>
      <p:cxnSp>
        <p:nvCxnSpPr>
          <p:cNvPr id="30" name="s3-rule-0"/>
          <p:cNvCxnSpPr/>
          <p:nvPr/>
        </p:nvCxnSpPr>
        <p:spPr>
          <a:xfrm xmlns:a="http://schemas.openxmlformats.org/drawingml/2006/main">
            <a:off x="609600" y="29527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0" name="s3-num-1">
            <a:extLst xmlns:a="http://schemas.openxmlformats.org/drawingml/2006/main">
              <a:ext uri="{FF2B5EF4-FFF2-40B4-BE49-F238E27FC236}">
                <a16:creationId xmlns:a16="http://schemas.microsoft.com/office/drawing/2014/main" id="{05CB29CB-0BD9-40D5-89FB-87A0488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3-title-1">
            <a:extLst xmlns:a="http://schemas.openxmlformats.org/drawingml/2006/main">
              <a:ext uri="{FF2B5EF4-FFF2-40B4-BE49-F238E27FC236}">
                <a16:creationId xmlns:a16="http://schemas.microsoft.com/office/drawing/2014/main" id="{E13E693F-3169-4DA8-881E-B6C37F7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我们提出了什么？</a:t>
            </a:r>
          </a:p>
        </p:txBody>
      </p:sp>
      <p:sp>
        <p:nvSpPr>
          <p:cNvPr id="12" name="s3-body-1">
            <a:extLst xmlns:a="http://schemas.openxmlformats.org/drawingml/2006/main">
              <a:ext uri="{FF2B5EF4-FFF2-40B4-BE49-F238E27FC236}">
                <a16:creationId xmlns:a16="http://schemas.microsoft.com/office/drawing/2014/main" id="{D67AC604-A329-490D-881C-E10DBF0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核心方法、系统结构与关键创新</a:t>
            </a:r>
          </a:p>
        </p:txBody>
      </p:sp>
      <p:cxnSp>
        <p:nvCxnSpPr>
          <p:cNvPr id="34" name="s3-rule-1"/>
          <p:cNvCxnSpPr/>
          <p:nvPr/>
        </p:nvCxnSpPr>
        <p:spPr>
          <a:xfrm xmlns:a="http://schemas.openxmlformats.org/drawingml/2006/main">
            <a:off x="609600" y="38290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4" name="s3-num-2">
            <a:extLst xmlns:a="http://schemas.openxmlformats.org/drawingml/2006/main">
              <a:ext uri="{FF2B5EF4-FFF2-40B4-BE49-F238E27FC236}">
                <a16:creationId xmlns:a16="http://schemas.microsoft.com/office/drawing/2014/main" id="{21CB65EB-8370-48D7-8DF0-0E7B62A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3-title-2">
            <a:extLst xmlns:a="http://schemas.openxmlformats.org/drawingml/2006/main">
              <a:ext uri="{FF2B5EF4-FFF2-40B4-BE49-F238E27FC236}">
                <a16:creationId xmlns:a16="http://schemas.microsoft.com/office/drawing/2014/main" id="{BB0D351A-98B8-4E83-8BC3-CEFFE563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338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证据是否充分？</a:t>
            </a:r>
          </a:p>
        </p:txBody>
      </p:sp>
      <p:sp>
        <p:nvSpPr>
          <p:cNvPr id="16" name="s3-body-2">
            <a:extLst xmlns:a="http://schemas.openxmlformats.org/drawingml/2006/main">
              <a:ext uri="{FF2B5EF4-FFF2-40B4-BE49-F238E27FC236}">
                <a16:creationId xmlns:a16="http://schemas.microsoft.com/office/drawing/2014/main" id="{4B79AEBF-01C5-4928-BF08-4DC08E1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实验设计、定量结果与定性结果</a:t>
            </a:r>
          </a:p>
        </p:txBody>
      </p:sp>
      <p:cxnSp>
        <p:nvCxnSpPr>
          <p:cNvPr id="38" name="s3-rule-2"/>
          <p:cNvCxnSpPr/>
          <p:nvPr/>
        </p:nvCxnSpPr>
        <p:spPr>
          <a:xfrm xmlns:a="http://schemas.openxmlformats.org/drawingml/2006/main">
            <a:off x="609600" y="47053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8" name="s3-num-3">
            <a:extLst xmlns:a="http://schemas.openxmlformats.org/drawingml/2006/main">
              <a:ext uri="{FF2B5EF4-FFF2-40B4-BE49-F238E27FC236}">
                <a16:creationId xmlns:a16="http://schemas.microsoft.com/office/drawing/2014/main" id="{6F2C2A13-4E84-41DF-B1E8-6E6F91B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s3-title-3">
            <a:extLst xmlns:a="http://schemas.openxmlformats.org/drawingml/2006/main">
              <a:ext uri="{FF2B5EF4-FFF2-40B4-BE49-F238E27FC236}">
                <a16:creationId xmlns:a16="http://schemas.microsoft.com/office/drawing/2014/main" id="{3EBDAC40-5C4A-41D2-98C7-19D4E590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结论意味着什么？</a:t>
            </a:r>
          </a:p>
        </p:txBody>
      </p:sp>
      <p:sp>
        <p:nvSpPr>
          <p:cNvPr id="20" name="s3-body-3">
            <a:extLst xmlns:a="http://schemas.openxmlformats.org/drawingml/2006/main">
              <a:ext uri="{FF2B5EF4-FFF2-40B4-BE49-F238E27FC236}">
                <a16:creationId xmlns:a16="http://schemas.microsoft.com/office/drawing/2014/main" id="{003AFB0F-352F-4B33-862A-9E9BE8C7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292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讨论、局限与未来工作</a:t>
            </a:r>
          </a:p>
        </p:txBody>
      </p:sp>
      <p:cxnSp>
        <p:nvCxnSpPr>
          <p:cNvPr id="42" name="s3-rule-3"/>
          <p:cNvCxnSpPr/>
          <p:nvPr/>
        </p:nvCxnSpPr>
        <p:spPr>
          <a:xfrm xmlns:a="http://schemas.openxmlformats.org/drawingml/2006/main">
            <a:off x="609600" y="55816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6125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4">
            <a:extLst xmlns:a="http://schemas.openxmlformats.org/drawingml/2006/main"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15" name="top-rule-4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[现实需求] 暴露了现有方法的关键缺口</a:t>
            </a:r>
          </a:p>
        </p:txBody>
      </p:sp>
      <p:sp>
        <p:nvSpPr>
          <p:cNvPr id="5" name="subtitle-4">
            <a:extLst xmlns:a="http://schemas.openxmlformats.org/drawingml/2006/main"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先交代场景和矛盾，再引出研究问题。</a:t>
            </a:r>
          </a:p>
        </p:txBody>
      </p:sp>
      <p:sp>
        <p:nvSpPr>
          <p:cNvPr id="6" name="s4-context-label">
            <a:extLst xmlns:a="http://schemas.openxmlformats.org/drawingml/2006/main"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s4-context">
            <a:extLst xmlns:a="http://schemas.openxmlformats.org/drawingml/2006/main"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[背景事实或应用场景]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[问题带来的影响]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[为什么现有方案不足]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[本研究关注的边界]</a:t>
            </a:r>
          </a:p>
        </p:txBody>
      </p:sp>
      <p:sp>
        <p:nvSpPr>
          <p:cNvPr id="8" name="s4-question">
            <a:extLst xmlns:a="http://schemas.openxmlformats.org/drawingml/2006/main"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-question-text">
            <a:extLst xmlns:a="http://schemas.openxmlformats.org/drawingml/2006/main"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研究问题：</a:t>
            </a:r>
          </a:p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[在什么约束下，如何实现什么目标？]</a:t>
            </a:r>
          </a:p>
        </p:txBody>
      </p:sp>
      <p:sp>
        <p:nvSpPr>
          <p:cNvPr id="10" name="s4-image-frame">
            <a:extLst xmlns:a="http://schemas.openxmlformats.org/drawingml/2006/main"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51244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 xmlns:a="http://schemas.openxmlformats.org/drawingml/2006/main"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512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image-label">
            <a:extLst xmlns:a="http://schemas.openxmlformats.org/drawingml/2006/main"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背景图片 / 问题示意图</a:t>
            </a:r>
          </a:p>
        </p:txBody>
      </p:sp>
      <p:sp>
        <p:nvSpPr>
          <p:cNvPr id="13" name="s4-image-hint">
            <a:extLst xmlns:a="http://schemas.openxmlformats.org/drawingml/2006/main"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46672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放置真实场景、问题示意或统计图。</a:t>
            </a:r>
          </a:p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图片应直接支持本页核心判断。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5">
            <a:extLst xmlns:a="http://schemas.openxmlformats.org/drawingml/2006/main">
              <a:ext uri="{FF2B5EF4-FFF2-40B4-BE49-F238E27FC236}">
                <a16:creationId xmlns:a16="http://schemas.microsoft.com/office/drawing/2014/main" id="{28CC6BC3-D977-44C2-8FA9-1BEC09A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8" name="top-rule-5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A89B2C5B-15F9-48B1-B022-A0D78AB1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DD6A090C-C2C6-4BEA-A1C0-AD2C9F15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现有方法各有优势，但仍缺少关键能力</a:t>
            </a:r>
          </a:p>
        </p:txBody>
      </p:sp>
      <p:sp>
        <p:nvSpPr>
          <p:cNvPr id="5" name="subtitle-5">
            <a:extLst xmlns:a="http://schemas.openxmlformats.org/drawingml/2006/main">
              <a:ext uri="{FF2B5EF4-FFF2-40B4-BE49-F238E27FC236}">
                <a16:creationId xmlns:a16="http://schemas.microsoft.com/office/drawing/2014/main" id="{1AF97427-9558-4223-A205-53EA870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比较标准要与研究问题直接相关，避免罗列论文清单。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89200"/>
                <a:gridCol w="2133600"/>
                <a:gridCol w="2133600"/>
                <a:gridCol w="3911600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性能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成本 / 复杂度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主要局限</a:t>
                      </a:r>
                    </a:p>
                  </a:txBody>
                  <a:tcPr marL="91440" marR="91440" marT="45720" marB="45720">
                    <a:solidFill>
                      <a:srgbClr val="2563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Baseline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[无法满足的条件或场景]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Baseline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[部署、鲁棒性或泛化问题]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Recent 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较高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[仍未解决的关键问题]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</a:rPr>
                        <a:t>本文方法</a:t>
                      </a:r>
                    </a:p>
                  </a:txBody>
                  <a:tcPr marL="91440" marR="91440" marT="45720" marB="4572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563EB"/>
                          </a:solidFill>
                        </a:rPr>
                        <a:t>[明确你的改进点]</a:t>
                      </a:r>
                    </a:p>
                  </a:txBody>
                  <a:tcPr marL="91440" marR="91440" marT="45720" marB="45720"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093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6">
            <a:extLst xmlns:a="http://schemas.openxmlformats.org/drawingml/2006/main">
              <a:ext uri="{FF2B5EF4-FFF2-40B4-BE49-F238E27FC236}">
                <a16:creationId xmlns:a16="http://schemas.microsoft.com/office/drawing/2014/main" id="{75D5D4D0-7CCE-4408-9252-79783CB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28" name="top-rule-6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AE92762-FD93-4AE6-9915-4FEEF32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625A25A2-65AA-4E66-8873-8D75A1D0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方法通过四个阶段完成从输入到输出的映射</a:t>
            </a:r>
          </a:p>
        </p:txBody>
      </p:sp>
      <p:sp>
        <p:nvSpPr>
          <p:cNvPr id="5" name="subtitle-6">
            <a:extLst xmlns:a="http://schemas.openxmlformats.org/drawingml/2006/main">
              <a:ext uri="{FF2B5EF4-FFF2-40B4-BE49-F238E27FC236}">
                <a16:creationId xmlns:a16="http://schemas.microsoft.com/office/drawing/2014/main" id="{6B56EE69-5F3C-4EA3-8EC0-671E343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一页只保留主流程；复杂模块可在后续页面分别展开。</a:t>
            </a:r>
          </a:p>
        </p:txBody>
      </p:sp>
      <p:cxnSp>
        <p:nvCxnSpPr>
          <p:cNvPr id="32" name="s6-link-1"/>
          <p:cNvCxnSpPr/>
          <p:nvPr/>
        </p:nvCxnSpPr>
        <p:spPr>
          <a:xfrm xmlns:a="http://schemas.openxmlformats.org/drawingml/2006/main">
            <a:off x="2667000" y="34861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B82F6"/>
            </a:solidFill>
            <a:prstDash val="solid"/>
          </a:ln>
        </p:spPr>
      </p:cxnSp>
      <p:cxnSp>
        <p:nvCxnSpPr>
          <p:cNvPr id="33" name="s6-link-2"/>
          <p:cNvCxnSpPr/>
          <p:nvPr/>
        </p:nvCxnSpPr>
        <p:spPr>
          <a:xfrm xmlns:a="http://schemas.openxmlformats.org/drawingml/2006/main">
            <a:off x="5353050" y="34861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B82F6"/>
            </a:solidFill>
            <a:prstDash val="solid"/>
          </a:ln>
        </p:spPr>
      </p:cxnSp>
      <p:cxnSp>
        <p:nvCxnSpPr>
          <p:cNvPr id="34" name="s6-link-3"/>
          <p:cNvCxnSpPr/>
          <p:nvPr/>
        </p:nvCxnSpPr>
        <p:spPr>
          <a:xfrm xmlns:a="http://schemas.openxmlformats.org/drawingml/2006/main">
            <a:off x="8039100" y="34861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B82F6"/>
            </a:solidFill>
            <a:prstDash val="solid"/>
          </a:ln>
        </p:spPr>
      </p:cxnSp>
      <p:sp>
        <p:nvSpPr>
          <p:cNvPr id="9" name="s6-node-0">
            <a:extLst xmlns:a="http://schemas.openxmlformats.org/drawingml/2006/main">
              <a:ext uri="{FF2B5EF4-FFF2-40B4-BE49-F238E27FC236}">
                <a16:creationId xmlns:a16="http://schemas.microsoft.com/office/drawing/2014/main" id="{004923D5-3F7E-48D2-BD0D-5BB4413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057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s6-num-0">
            <a:extLst xmlns:a="http://schemas.openxmlformats.org/drawingml/2006/main">
              <a:ext uri="{FF2B5EF4-FFF2-40B4-BE49-F238E27FC236}">
                <a16:creationId xmlns:a16="http://schemas.microsoft.com/office/drawing/2014/main" id="{965CBD7B-A790-4326-81A6-F00F0664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s6-title-0">
            <a:extLst xmlns:a="http://schemas.openxmlformats.org/drawingml/2006/main">
              <a:ext uri="{FF2B5EF4-FFF2-40B4-BE49-F238E27FC236}">
                <a16:creationId xmlns:a16="http://schemas.microsoft.com/office/drawing/2014/main" id="{8A70919D-8D60-44DE-A83D-C283AA8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输入与预处理</a:t>
            </a:r>
          </a:p>
        </p:txBody>
      </p:sp>
      <p:sp>
        <p:nvSpPr>
          <p:cNvPr id="12" name="s6-body-0">
            <a:extLst xmlns:a="http://schemas.openxmlformats.org/drawingml/2006/main">
              <a:ext uri="{FF2B5EF4-FFF2-40B4-BE49-F238E27FC236}">
                <a16:creationId xmlns:a16="http://schemas.microsoft.com/office/drawing/2014/main" id="{114CA980-BE50-481E-9C2B-BB7E478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[数据来源]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[清洗 / 编码 / 对齐]</a:t>
            </a:r>
          </a:p>
        </p:txBody>
      </p:sp>
      <p:sp>
        <p:nvSpPr>
          <p:cNvPr id="13" name="s6-node-1">
            <a:extLst xmlns:a="http://schemas.openxmlformats.org/drawingml/2006/main">
              <a:ext uri="{FF2B5EF4-FFF2-40B4-BE49-F238E27FC236}">
                <a16:creationId xmlns:a16="http://schemas.microsoft.com/office/drawing/2014/main" id="{286BC9E4-83B4-4A80-A182-DEC2A70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057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s6-num-1">
            <a:extLst xmlns:a="http://schemas.openxmlformats.org/drawingml/2006/main">
              <a:ext uri="{FF2B5EF4-FFF2-40B4-BE49-F238E27FC236}">
                <a16:creationId xmlns:a16="http://schemas.microsoft.com/office/drawing/2014/main" id="{AD354A02-5052-498F-9954-CA89421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s6-title-1">
            <a:extLst xmlns:a="http://schemas.openxmlformats.org/drawingml/2006/main">
              <a:ext uri="{FF2B5EF4-FFF2-40B4-BE49-F238E27FC236}">
                <a16:creationId xmlns:a16="http://schemas.microsoft.com/office/drawing/2014/main" id="{918E2D9D-26C5-469F-AFE4-6E42A4C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核心表征</a:t>
            </a:r>
          </a:p>
        </p:txBody>
      </p:sp>
      <p:sp>
        <p:nvSpPr>
          <p:cNvPr id="16" name="s6-body-1">
            <a:extLst xmlns:a="http://schemas.openxmlformats.org/drawingml/2006/main">
              <a:ext uri="{FF2B5EF4-FFF2-40B4-BE49-F238E27FC236}">
                <a16:creationId xmlns:a16="http://schemas.microsoft.com/office/drawing/2014/main" id="{64F1EC6C-6355-46C6-BFDA-022C050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[特征提取]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[模型或系统模块]</a:t>
            </a:r>
          </a:p>
        </p:txBody>
      </p:sp>
      <p:sp>
        <p:nvSpPr>
          <p:cNvPr id="17" name="s6-node-2">
            <a:extLst xmlns:a="http://schemas.openxmlformats.org/drawingml/2006/main">
              <a:ext uri="{FF2B5EF4-FFF2-40B4-BE49-F238E27FC236}">
                <a16:creationId xmlns:a16="http://schemas.microsoft.com/office/drawing/2014/main" id="{D8C73239-C920-403C-9CDB-97C3AC61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2057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s6-num-2">
            <a:extLst xmlns:a="http://schemas.openxmlformats.org/drawingml/2006/main">
              <a:ext uri="{FF2B5EF4-FFF2-40B4-BE49-F238E27FC236}">
                <a16:creationId xmlns:a16="http://schemas.microsoft.com/office/drawing/2014/main" id="{343CF29E-A863-4AE2-8199-A2F63DE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s6-title-2">
            <a:extLst xmlns:a="http://schemas.openxmlformats.org/drawingml/2006/main">
              <a:ext uri="{FF2B5EF4-FFF2-40B4-BE49-F238E27FC236}">
                <a16:creationId xmlns:a16="http://schemas.microsoft.com/office/drawing/2014/main" id="{26C09779-5F6C-4BC6-88BA-7CE504CD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推理与优化</a:t>
            </a:r>
          </a:p>
        </p:txBody>
      </p:sp>
      <p:sp>
        <p:nvSpPr>
          <p:cNvPr id="20" name="s6-body-2">
            <a:extLst xmlns:a="http://schemas.openxmlformats.org/drawingml/2006/main">
              <a:ext uri="{FF2B5EF4-FFF2-40B4-BE49-F238E27FC236}">
                <a16:creationId xmlns:a16="http://schemas.microsoft.com/office/drawing/2014/main" id="{EEC600AF-D933-4911-A6C9-E45F6E0B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[损失 / 搜索 / 调度]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[关键机制]</a:t>
            </a:r>
          </a:p>
        </p:txBody>
      </p:sp>
      <p:sp>
        <p:nvSpPr>
          <p:cNvPr id="21" name="s6-node-3">
            <a:extLst xmlns:a="http://schemas.openxmlformats.org/drawingml/2006/main">
              <a:ext uri="{FF2B5EF4-FFF2-40B4-BE49-F238E27FC236}">
                <a16:creationId xmlns:a16="http://schemas.microsoft.com/office/drawing/2014/main" id="{63727D01-8E66-4E2E-A8B6-81563872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057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s6-num-3">
            <a:extLst xmlns:a="http://schemas.openxmlformats.org/drawingml/2006/main">
              <a:ext uri="{FF2B5EF4-FFF2-40B4-BE49-F238E27FC236}">
                <a16:creationId xmlns:a16="http://schemas.microsoft.com/office/drawing/2014/main" id="{6EF3E69D-6945-481E-BF18-57D34DA1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s6-title-3">
            <a:extLst xmlns:a="http://schemas.openxmlformats.org/drawingml/2006/main">
              <a:ext uri="{FF2B5EF4-FFF2-40B4-BE49-F238E27FC236}">
                <a16:creationId xmlns:a16="http://schemas.microsoft.com/office/drawing/2014/main" id="{5C4F2C47-3DD3-4BF2-AC7F-C4BA764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输出与评价</a:t>
            </a:r>
          </a:p>
        </p:txBody>
      </p:sp>
      <p:sp>
        <p:nvSpPr>
          <p:cNvPr id="24" name="s6-body-3">
            <a:extLst xmlns:a="http://schemas.openxmlformats.org/drawingml/2006/main">
              <a:ext uri="{FF2B5EF4-FFF2-40B4-BE49-F238E27FC236}">
                <a16:creationId xmlns:a16="http://schemas.microsoft.com/office/drawing/2014/main" id="{1C1F24F2-CB02-4614-89FA-1459DD2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[输出结果]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[评价指标]</a:t>
            </a:r>
          </a:p>
        </p:txBody>
      </p:sp>
      <p:sp>
        <p:nvSpPr>
          <p:cNvPr id="25" name="s6-highlight">
            <a:extLst xmlns:a="http://schemas.openxmlformats.org/drawingml/2006/main">
              <a:ext uri="{FF2B5EF4-FFF2-40B4-BE49-F238E27FC236}">
                <a16:creationId xmlns:a16="http://schemas.microsoft.com/office/drawing/2014/main" id="{88B5D560-CDE6-4148-BDD2-C2EA041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115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6-highlight-text">
            <a:extLst xmlns:a="http://schemas.openxmlformats.org/drawingml/2006/main">
              <a:ext uri="{FF2B5EF4-FFF2-40B4-BE49-F238E27FC236}">
                <a16:creationId xmlns:a16="http://schemas.microsoft.com/office/drawing/2014/main" id="{9A54C3FA-7F17-47E6-813A-F8493DD8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关键创新：[说明哪个阶段发生了什么变化，以及它为何提升性能或可靠性]</a:t>
            </a:r>
          </a:p>
        </p:txBody>
      </p:sp>
    </p:spTree>
    <p:extLst>
      <p:ext uri="{BB962C8B-B14F-4D97-AF65-F5344CB8AC3E}">
        <p14:creationId xmlns:p14="http://schemas.microsoft.com/office/powerpoint/2010/main" val="1189499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277DD7CD-D417-4185-8F7D-01DBE0D2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14" name="top-rule-7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AD9CE066-BA0E-461B-831A-7E276D8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A97EC994-564D-4336-A72F-EEE6ACD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实验设计覆盖数据、实现细节与评价标准</a:t>
            </a:r>
          </a:p>
        </p:txBody>
      </p:sp>
      <p:sp>
        <p:nvSpPr>
          <p:cNvPr id="5" name="subtitle-7">
            <a:extLst xmlns:a="http://schemas.openxmlformats.org/drawingml/2006/main">
              <a:ext uri="{FF2B5EF4-FFF2-40B4-BE49-F238E27FC236}">
                <a16:creationId xmlns:a16="http://schemas.microsoft.com/office/drawing/2014/main" id="{19597AA3-EF8E-4A91-87B5-11214E8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让听众能够判断实验是否公平、充分且可复现。</a:t>
            </a:r>
          </a:p>
        </p:txBody>
      </p:sp>
      <p:sp>
        <p:nvSpPr>
          <p:cNvPr id="6" name="s7-data-title">
            <a:extLst xmlns:a="http://schemas.openxmlformats.org/drawingml/2006/main">
              <a:ext uri="{FF2B5EF4-FFF2-40B4-BE49-F238E27FC236}">
                <a16:creationId xmlns:a16="http://schemas.microsoft.com/office/drawing/2014/main" id="{4E467F98-8D53-4FB1-B9B8-8D3EA130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数据与任务</a:t>
            </a:r>
          </a:p>
        </p:txBody>
      </p:sp>
      <p:sp>
        <p:nvSpPr>
          <p:cNvPr id="7" name="s7-data">
            <a:extLst xmlns:a="http://schemas.openxmlformats.org/drawingml/2006/main">
              <a:ext uri="{FF2B5EF4-FFF2-40B4-BE49-F238E27FC236}">
                <a16:creationId xmlns:a16="http://schemas.microsoft.com/office/drawing/2014/main" id="{8D7B7DE6-73A9-478E-9CBD-ADC21F3B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数据集：[名称 / 规模]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训练 / 验证 / 测试：[划分]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任务定义：[分类 / 分割 / 系统测试]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预处理：[主要步骤]</a:t>
            </a:r>
          </a:p>
        </p:txBody>
      </p:sp>
      <p:sp>
        <p:nvSpPr>
          <p:cNvPr id="8" name="s7-impl-title">
            <a:extLst xmlns:a="http://schemas.openxmlformats.org/drawingml/2006/main">
              <a:ext uri="{FF2B5EF4-FFF2-40B4-BE49-F238E27FC236}">
                <a16:creationId xmlns:a16="http://schemas.microsoft.com/office/drawing/2014/main" id="{BB06AFF2-0BAB-4681-A59E-D8ED849C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实现与环境</a:t>
            </a:r>
          </a:p>
        </p:txBody>
      </p:sp>
      <p:sp>
        <p:nvSpPr>
          <p:cNvPr id="9" name="s7-impl">
            <a:extLst xmlns:a="http://schemas.openxmlformats.org/drawingml/2006/main">
              <a:ext uri="{FF2B5EF4-FFF2-40B4-BE49-F238E27FC236}">
                <a16:creationId xmlns:a16="http://schemas.microsoft.com/office/drawing/2014/main" id="{4D30D80B-B341-4E92-8C65-CC2CBC4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硬件：[CPU / GPU / 平台]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软件：[框架 / 版本]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关键参数：[学习率 / 批量 / 运行时配置]</a:t>
            </a:r>
          </a:p>
        </p:txBody>
      </p:sp>
      <p:sp>
        <p:nvSpPr>
          <p:cNvPr id="10" name="s7-metrics">
            <a:extLst xmlns:a="http://schemas.openxmlformats.org/drawingml/2006/main">
              <a:ext uri="{FF2B5EF4-FFF2-40B4-BE49-F238E27FC236}">
                <a16:creationId xmlns:a16="http://schemas.microsoft.com/office/drawing/2014/main" id="{177259FA-C594-4857-995D-65CB4D0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5429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7-metrics-title">
            <a:extLst xmlns:a="http://schemas.openxmlformats.org/drawingml/2006/main">
              <a:ext uri="{FF2B5EF4-FFF2-40B4-BE49-F238E27FC236}">
                <a16:creationId xmlns:a16="http://schemas.microsoft.com/office/drawing/2014/main" id="{A4717CA5-02B1-4181-BF17-A7AE628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评价指标与对照设置</a:t>
            </a:r>
          </a:p>
        </p:txBody>
      </p:sp>
      <p:sp>
        <p:nvSpPr>
          <p:cNvPr id="12" name="s7-metrics-body">
            <a:extLst xmlns:a="http://schemas.openxmlformats.org/drawingml/2006/main">
              <a:ext uri="{FF2B5EF4-FFF2-40B4-BE49-F238E27FC236}">
                <a16:creationId xmlns:a16="http://schemas.microsoft.com/office/drawing/2014/main" id="{9113F98B-7240-4CF6-9C73-F834456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主要指标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[准确率 / Dice / 延迟 / 吞吐量]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对照方法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[Baseline A / Baseline B / SOTA]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消融实验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[移除模块 / 替换策略 / 参数敏感性]</a:t>
            </a:r>
          </a:p>
        </p:txBody>
      </p:sp>
    </p:spTree>
    <p:extLst>
      <p:ext uri="{BB962C8B-B14F-4D97-AF65-F5344CB8AC3E}">
        <p14:creationId xmlns:p14="http://schemas.microsoft.com/office/powerpoint/2010/main" val="598901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8">
            <a:extLst xmlns:a="http://schemas.openxmlformats.org/drawingml/2006/main">
              <a:ext uri="{FF2B5EF4-FFF2-40B4-BE49-F238E27FC236}">
                <a16:creationId xmlns:a16="http://schemas.microsoft.com/office/drawing/2014/main" id="{28C14054-0975-467F-8C5B-91E483F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12" name="top-rule-8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2BC09C17-9F4D-46B9-981E-775628E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F34A65E6-7BD2-46AC-8F7D-7B6D2A4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本文方法在主要指标上取得稳定提升</a:t>
            </a:r>
          </a:p>
        </p:txBody>
      </p:sp>
      <p:sp>
        <p:nvSpPr>
          <p:cNvPr id="5" name="subtitle-8">
            <a:extLst xmlns:a="http://schemas.openxmlformats.org/drawingml/2006/main">
              <a:ext uri="{FF2B5EF4-FFF2-40B4-BE49-F238E27FC236}">
                <a16:creationId xmlns:a16="http://schemas.microsoft.com/office/drawing/2014/main" id="{FD049AEA-4F43-4BF7-B684-5DE9E67B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图表标题直接写结论，正文解释提升来自哪里。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91bf25766f4784"/>
          </a:graphicData>
        </a:graphic>
      </p:graphicFrame>
      <p:sp>
        <p:nvSpPr>
          <p:cNvPr id="7" name="s8-finding-title">
            <a:extLst xmlns:a="http://schemas.openxmlformats.org/drawingml/2006/main">
              <a:ext uri="{FF2B5EF4-FFF2-40B4-BE49-F238E27FC236}">
                <a16:creationId xmlns:a16="http://schemas.microsoft.com/office/drawing/2014/main" id="{A67CE8C0-62B6-48BF-AD36-E6B1B67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</p:txBody>
      </p:sp>
      <p:sp>
        <p:nvSpPr>
          <p:cNvPr id="8" name="s8-finding">
            <a:extLst xmlns:a="http://schemas.openxmlformats.org/drawingml/2006/main">
              <a:ext uri="{FF2B5EF4-FFF2-40B4-BE49-F238E27FC236}">
                <a16:creationId xmlns:a16="http://schemas.microsoft.com/office/drawing/2014/main" id="{348EDBCF-6035-4CF5-8BD2-1CA59F9A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[本文方法] 在三个数据集上均优于基线，平均提升 [X.X] 个百分点。</a:t>
            </a:r>
          </a:p>
        </p:txBody>
      </p:sp>
      <p:cxnSp>
        <p:nvCxnSpPr>
          <p:cNvPr id="19" name="s8-side-rule"/>
          <p:cNvCxnSpPr/>
          <p:nvPr/>
        </p:nvCxnSpPr>
        <p:spPr>
          <a:xfrm xmlns:a="http://schemas.openxmlformats.org/drawingml/2006/main">
            <a:off x="781050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E8F0"/>
            </a:solidFill>
            <a:prstDash val="solid"/>
          </a:ln>
        </p:spPr>
      </p:cxnSp>
      <p:sp>
        <p:nvSpPr>
          <p:cNvPr id="10" name="s8-note">
            <a:extLst xmlns:a="http://schemas.openxmlformats.org/drawingml/2006/main">
              <a:ext uri="{FF2B5EF4-FFF2-40B4-BE49-F238E27FC236}">
                <a16:creationId xmlns:a16="http://schemas.microsoft.com/office/drawing/2014/main" id="{357A33EE-E102-4035-AA71-09451CF7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解释结果，而不是重复数值：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提升主要来自哪个模块？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是否存在数据集差异？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结果是否具备实际意义？</a:t>
            </a:r>
          </a:p>
        </p:txBody>
      </p:sp>
    </p:spTree>
    <p:extLst>
      <p:ext uri="{BB962C8B-B14F-4D97-AF65-F5344CB8AC3E}">
        <p14:creationId xmlns:p14="http://schemas.microsoft.com/office/powerpoint/2010/main" val="1367740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9">
            <a:extLst xmlns:a="http://schemas.openxmlformats.org/drawingml/2006/main">
              <a:ext uri="{FF2B5EF4-FFF2-40B4-BE49-F238E27FC236}">
                <a16:creationId xmlns:a16="http://schemas.microsoft.com/office/drawing/2014/main" id="{ECD55E00-0374-4F23-B758-1C0E1C5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24" name="top-rule-9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9733D53D-F5AC-4D5E-BB99-742309F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DAF58E5B-E144-40C3-8D00-1D59ED3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可视化结果说明方法在哪些场景下真正有效</a:t>
            </a:r>
          </a:p>
        </p:txBody>
      </p:sp>
      <p:sp>
        <p:nvSpPr>
          <p:cNvPr id="5" name="subtitle-9">
            <a:extLst xmlns:a="http://schemas.openxmlformats.org/drawingml/2006/main">
              <a:ext uri="{FF2B5EF4-FFF2-40B4-BE49-F238E27FC236}">
                <a16:creationId xmlns:a16="http://schemas.microsoft.com/office/drawing/2014/main" id="{4E721D46-6873-4261-A8C2-61565E9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选择有代表性的正常样本与困难样本，避免只展示最好结果。</a:t>
            </a:r>
          </a:p>
        </p:txBody>
      </p:sp>
      <p:sp>
        <p:nvSpPr>
          <p:cNvPr id="6" name="s9-img-0-frame">
            <a:extLst xmlns:a="http://schemas.openxmlformats.org/drawingml/2006/main">
              <a:ext uri="{FF2B5EF4-FFF2-40B4-BE49-F238E27FC236}">
                <a16:creationId xmlns:a16="http://schemas.microsoft.com/office/drawing/2014/main" id="{4DB981FC-422B-473E-A1FC-226759D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s9-img-0-band">
            <a:extLst xmlns:a="http://schemas.openxmlformats.org/drawingml/2006/main">
              <a:ext uri="{FF2B5EF4-FFF2-40B4-BE49-F238E27FC236}">
                <a16:creationId xmlns:a16="http://schemas.microsoft.com/office/drawing/2014/main" id="{C46167E6-5647-4628-BDBF-1A2996F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9-img-0-label">
            <a:extLst xmlns:a="http://schemas.openxmlformats.org/drawingml/2006/main">
              <a:ext uri="{FF2B5EF4-FFF2-40B4-BE49-F238E27FC236}">
                <a16:creationId xmlns:a16="http://schemas.microsoft.com/office/drawing/2014/main" id="{8EE0EC28-BE50-4352-8C0D-0C66D2A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输入 / 原始样本</a:t>
            </a:r>
          </a:p>
        </p:txBody>
      </p:sp>
      <p:sp>
        <p:nvSpPr>
          <p:cNvPr id="9" name="s9-img-0-hint">
            <a:extLst xmlns:a="http://schemas.openxmlformats.org/drawingml/2006/main">
              <a:ext uri="{FF2B5EF4-FFF2-40B4-BE49-F238E27FC236}">
                <a16:creationId xmlns:a16="http://schemas.microsoft.com/office/drawing/2014/main" id="{887CFE26-B080-452F-9A67-509E43A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686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替换为对应图片</a:t>
            </a:r>
          </a:p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保持三张图片比例一致</a:t>
            </a:r>
          </a:p>
        </p:txBody>
      </p:sp>
      <p:sp>
        <p:nvSpPr>
          <p:cNvPr id="10" name="s9-caption-0">
            <a:extLst xmlns:a="http://schemas.openxmlformats.org/drawingml/2006/main">
              <a:ext uri="{FF2B5EF4-FFF2-40B4-BE49-F238E27FC236}">
                <a16:creationId xmlns:a16="http://schemas.microsoft.com/office/drawing/2014/main" id="{670CA426-D056-4231-A314-3A6B0E9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[图注：说明关键区域或差异]</a:t>
            </a:r>
          </a:p>
        </p:txBody>
      </p:sp>
      <p:sp>
        <p:nvSpPr>
          <p:cNvPr id="11" name="s9-img-1-frame">
            <a:extLst xmlns:a="http://schemas.openxmlformats.org/drawingml/2006/main">
              <a:ext uri="{FF2B5EF4-FFF2-40B4-BE49-F238E27FC236}">
                <a16:creationId xmlns:a16="http://schemas.microsoft.com/office/drawing/2014/main" id="{AD09DBBA-2DC1-409C-AF2D-AF89A19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s9-img-1-band">
            <a:extLst xmlns:a="http://schemas.openxmlformats.org/drawingml/2006/main">
              <a:ext uri="{FF2B5EF4-FFF2-40B4-BE49-F238E27FC236}">
                <a16:creationId xmlns:a16="http://schemas.microsoft.com/office/drawing/2014/main" id="{B4FAB458-8B57-43EA-B955-CA788FB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9-img-1-label">
            <a:extLst xmlns:a="http://schemas.openxmlformats.org/drawingml/2006/main">
              <a:ext uri="{FF2B5EF4-FFF2-40B4-BE49-F238E27FC236}">
                <a16:creationId xmlns:a16="http://schemas.microsoft.com/office/drawing/2014/main" id="{FA90F532-7449-48AA-8833-12E3C3E2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基线结果</a:t>
            </a:r>
          </a:p>
        </p:txBody>
      </p:sp>
      <p:sp>
        <p:nvSpPr>
          <p:cNvPr id="14" name="s9-img-1-hint">
            <a:extLst xmlns:a="http://schemas.openxmlformats.org/drawingml/2006/main">
              <a:ext uri="{FF2B5EF4-FFF2-40B4-BE49-F238E27FC236}">
                <a16:creationId xmlns:a16="http://schemas.microsoft.com/office/drawing/2014/main" id="{01D8B98F-308A-41B2-8965-94F3791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2686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替换为对应图片</a:t>
            </a:r>
          </a:p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保持三张图片比例一致</a:t>
            </a:r>
          </a:p>
        </p:txBody>
      </p:sp>
      <p:sp>
        <p:nvSpPr>
          <p:cNvPr id="15" name="s9-caption-1">
            <a:extLst xmlns:a="http://schemas.openxmlformats.org/drawingml/2006/main">
              <a:ext uri="{FF2B5EF4-FFF2-40B4-BE49-F238E27FC236}">
                <a16:creationId xmlns:a16="http://schemas.microsoft.com/office/drawing/2014/main" id="{B1E3C20B-1ED5-41F8-9726-C19EEAC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[图注：说明关键区域或差异]</a:t>
            </a:r>
          </a:p>
        </p:txBody>
      </p:sp>
      <p:sp>
        <p:nvSpPr>
          <p:cNvPr id="16" name="s9-img-2-frame">
            <a:extLst xmlns:a="http://schemas.openxmlformats.org/drawingml/2006/main">
              <a:ext uri="{FF2B5EF4-FFF2-40B4-BE49-F238E27FC236}">
                <a16:creationId xmlns:a16="http://schemas.microsoft.com/office/drawing/2014/main" id="{D6E62F5B-BF47-4697-97F1-FE51AB46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7" name="s9-img-2-band">
            <a:extLst xmlns:a="http://schemas.openxmlformats.org/drawingml/2006/main">
              <a:ext uri="{FF2B5EF4-FFF2-40B4-BE49-F238E27FC236}">
                <a16:creationId xmlns:a16="http://schemas.microsoft.com/office/drawing/2014/main" id="{491AC153-FC73-4F57-BA51-295CEBC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9-img-2-label">
            <a:extLst xmlns:a="http://schemas.openxmlformats.org/drawingml/2006/main">
              <a:ext uri="{FF2B5EF4-FFF2-40B4-BE49-F238E27FC236}">
                <a16:creationId xmlns:a16="http://schemas.microsoft.com/office/drawing/2014/main" id="{AE268939-FBBC-455E-9A33-BBAB336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本文方法</a:t>
            </a:r>
          </a:p>
        </p:txBody>
      </p:sp>
      <p:sp>
        <p:nvSpPr>
          <p:cNvPr id="19" name="s9-img-2-hint">
            <a:extLst xmlns:a="http://schemas.openxmlformats.org/drawingml/2006/main">
              <a:ext uri="{FF2B5EF4-FFF2-40B4-BE49-F238E27FC236}">
                <a16:creationId xmlns:a16="http://schemas.microsoft.com/office/drawing/2014/main" id="{210A7320-E0E5-4FDD-A406-757A9D0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2686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替换为对应图片</a:t>
            </a:r>
          </a:p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保持三张图片比例一致</a:t>
            </a:r>
          </a:p>
        </p:txBody>
      </p:sp>
      <p:sp>
        <p:nvSpPr>
          <p:cNvPr id="20" name="s9-caption-2">
            <a:extLst xmlns:a="http://schemas.openxmlformats.org/drawingml/2006/main">
              <a:ext uri="{FF2B5EF4-FFF2-40B4-BE49-F238E27FC236}">
                <a16:creationId xmlns:a16="http://schemas.microsoft.com/office/drawing/2014/main" id="{21DB1243-EFF9-456C-BD0B-73EB107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[图注：说明关键区域或差异]</a:t>
            </a:r>
          </a:p>
        </p:txBody>
      </p:sp>
      <p:sp>
        <p:nvSpPr>
          <p:cNvPr id="21" name="s9-bottom">
            <a:extLst xmlns:a="http://schemas.openxmlformats.org/drawingml/2006/main">
              <a:ext uri="{FF2B5EF4-FFF2-40B4-BE49-F238E27FC236}">
                <a16:creationId xmlns:a16="http://schemas.microsoft.com/office/drawing/2014/main" id="{7F1C0AE0-A6B9-43A4-94D2-05337538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-bottom-text">
            <a:extLst xmlns:a="http://schemas.openxmlformats.org/drawingml/2006/main">
              <a:ext uri="{FF2B5EF4-FFF2-40B4-BE49-F238E27FC236}">
                <a16:creationId xmlns:a16="http://schemas.microsoft.com/office/drawing/2014/main" id="{993BC8F8-3F7B-4505-8551-86126608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97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观察：[指出本文方法在边界、遮挡、噪声或极端条件下的具体表现]</a:t>
            </a:r>
          </a:p>
        </p:txBody>
      </p:sp>
    </p:spTree>
    <p:extLst>
      <p:ext uri="{BB962C8B-B14F-4D97-AF65-F5344CB8AC3E}">
        <p14:creationId xmlns:p14="http://schemas.microsoft.com/office/powerpoint/2010/main" val="289937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0">
            <a:extLst xmlns:a="http://schemas.openxmlformats.org/drawingml/2006/main">
              <a:ext uri="{FF2B5EF4-FFF2-40B4-BE49-F238E27FC236}">
                <a16:creationId xmlns:a16="http://schemas.microsoft.com/office/drawing/2014/main" id="{555AFDA7-F3B4-461A-B808-E96744D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14" name="top-rule-10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B277B6E5-C152-470A-8949-03C43E8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8EE7ABE7-42E6-41B0-96ED-FDBFE030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结果支持核心假设，但仍存在明确适用边界</a:t>
            </a:r>
          </a:p>
        </p:txBody>
      </p:sp>
      <p:sp>
        <p:nvSpPr>
          <p:cNvPr id="5" name="subtitle-10">
            <a:extLst xmlns:a="http://schemas.openxmlformats.org/drawingml/2006/main">
              <a:ext uri="{FF2B5EF4-FFF2-40B4-BE49-F238E27FC236}">
                <a16:creationId xmlns:a16="http://schemas.microsoft.com/office/drawing/2014/main" id="{579C3BE7-B7A1-4E1D-A2E5-74B377A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讨论页应解释证据的意义，同时主动说明局限。</a:t>
            </a:r>
          </a:p>
        </p:txBody>
      </p:sp>
      <p:sp>
        <p:nvSpPr>
          <p:cNvPr id="6" name="s10-left-head">
            <a:extLst xmlns:a="http://schemas.openxmlformats.org/drawingml/2006/main">
              <a:ext uri="{FF2B5EF4-FFF2-40B4-BE49-F238E27FC236}">
                <a16:creationId xmlns:a16="http://schemas.microsoft.com/office/drawing/2014/main" id="{18A80D23-31C8-4A7C-B5AC-EAABE0E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证据支持什么</a:t>
            </a:r>
          </a:p>
        </p:txBody>
      </p:sp>
      <p:sp>
        <p:nvSpPr>
          <p:cNvPr id="7" name="s10-left">
            <a:extLst xmlns:a="http://schemas.openxmlformats.org/drawingml/2006/main">
              <a:ext uri="{FF2B5EF4-FFF2-40B4-BE49-F238E27FC236}">
                <a16:creationId xmlns:a16="http://schemas.microsoft.com/office/drawing/2014/main" id="{6247A7E4-B44A-4CD4-BE09-EBC4E6F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  [主要结论及其证据]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02  [与已有工作的差异]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03  [对实际应用或理论的意义]</a:t>
            </a:r>
          </a:p>
        </p:txBody>
      </p:sp>
      <p:cxnSp>
        <p:nvCxnSpPr>
          <p:cNvPr id="20" name="s10-divider"/>
          <p:cNvCxnSpPr/>
          <p:nvPr/>
        </p:nvCxnSpPr>
        <p:spPr>
          <a:xfrm xmlns:a="http://schemas.openxmlformats.org/drawingml/2006/main">
            <a:off x="5829300" y="2305050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2E8F0"/>
            </a:solidFill>
            <a:prstDash val="solid"/>
          </a:ln>
        </p:spPr>
      </p:cxnSp>
      <p:sp>
        <p:nvSpPr>
          <p:cNvPr id="9" name="s10-right-head">
            <a:extLst xmlns:a="http://schemas.openxmlformats.org/drawingml/2006/main">
              <a:ext uri="{FF2B5EF4-FFF2-40B4-BE49-F238E27FC236}">
                <a16:creationId xmlns:a16="http://schemas.microsoft.com/office/drawing/2014/main" id="{D84CDE1C-FA4B-443A-9100-8EF24B60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当前局限与边界</a:t>
            </a:r>
          </a:p>
        </p:txBody>
      </p:sp>
      <p:sp>
        <p:nvSpPr>
          <p:cNvPr id="10" name="s10-right">
            <a:extLst xmlns:a="http://schemas.openxmlformats.org/drawingml/2006/main">
              <a:ext uri="{FF2B5EF4-FFF2-40B4-BE49-F238E27FC236}">
                <a16:creationId xmlns:a16="http://schemas.microsoft.com/office/drawing/2014/main" id="{55364F38-AC95-44B2-9868-B6ECF64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  [数据或样本覆盖不足]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  [计算成本或部署限制]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  [仍需验证的泛化场景]</a:t>
            </a:r>
          </a:p>
        </p:txBody>
      </p:sp>
      <p:sp>
        <p:nvSpPr>
          <p:cNvPr id="11" name="s10-bottom">
            <a:extLst xmlns:a="http://schemas.openxmlformats.org/drawingml/2006/main">
              <a:ext uri="{FF2B5EF4-FFF2-40B4-BE49-F238E27FC236}">
                <a16:creationId xmlns:a16="http://schemas.microsoft.com/office/drawing/2014/main" id="{4A951FCC-8390-4B75-9F9E-A962B57E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0-bottom-text">
            <a:extLst xmlns:a="http://schemas.openxmlformats.org/drawingml/2006/main">
              <a:ext uri="{FF2B5EF4-FFF2-40B4-BE49-F238E27FC236}">
                <a16:creationId xmlns:a16="http://schemas.microsoft.com/office/drawing/2014/main" id="{630FC546-96F7-46EB-85B1-3E4248A5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结论边界：[明确说明在哪些条件下可以使用本研究结论]</a:t>
            </a:r>
          </a:p>
        </p:txBody>
      </p:sp>
    </p:spTree>
    <p:extLst>
      <p:ext uri="{BB962C8B-B14F-4D97-AF65-F5344CB8AC3E}">
        <p14:creationId xmlns:p14="http://schemas.microsoft.com/office/powerpoint/2010/main" val="1811742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1">
            <a:extLst xmlns:a="http://schemas.openxmlformats.org/drawingml/2006/main">
              <a:ext uri="{FF2B5EF4-FFF2-40B4-BE49-F238E27FC236}">
                <a16:creationId xmlns:a16="http://schemas.microsoft.com/office/drawing/2014/main" id="{07606BFC-4A40-4D31-B8C4-E19AB0BE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ACADEMIC REPORT</a:t>
            </a:r>
          </a:p>
        </p:txBody>
      </p:sp>
      <p:cxnSp>
        <p:nvCxnSpPr>
          <p:cNvPr id="27" name="top-rule-11"/>
          <p:cNvCxnSpPr/>
          <p:nvPr/>
        </p:nvCxnSpPr>
        <p:spPr>
          <a:xfrm xmlns:a="http://schemas.openxmlformats.org/drawingml/2006/main">
            <a:off x="609600" y="6286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9A85428-F149-403F-AD84-CB3DEDC0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6A3495C4-A05D-427A-A607-56CC3B3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研究回答了核心问题，并为下一步工作提供路径</a:t>
            </a:r>
          </a:p>
        </p:txBody>
      </p:sp>
      <p:sp>
        <p:nvSpPr>
          <p:cNvPr id="5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C9EA0AE-9A6B-4022-AA3A-4EA3166B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结尾回到开场问题，避免只重复章节标题。</a:t>
            </a:r>
          </a:p>
        </p:txBody>
      </p:sp>
      <p:sp>
        <p:nvSpPr>
          <p:cNvPr id="6" name="s11-num-0">
            <a:extLst xmlns:a="http://schemas.openxmlformats.org/drawingml/2006/main">
              <a:ext uri="{FF2B5EF4-FFF2-40B4-BE49-F238E27FC236}">
                <a16:creationId xmlns:a16="http://schemas.microsoft.com/office/drawing/2014/main" id="{F2226DF2-3A62-4F7F-A11E-861B401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11-title-0">
            <a:extLst xmlns:a="http://schemas.openxmlformats.org/drawingml/2006/main">
              <a:ext uri="{FF2B5EF4-FFF2-40B4-BE49-F238E27FC236}">
                <a16:creationId xmlns:a16="http://schemas.microsoft.com/office/drawing/2014/main" id="{96B08E21-EFB4-43DB-9CE4-C9DCF29C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我们解决了什么</a:t>
            </a:r>
          </a:p>
        </p:txBody>
      </p:sp>
      <p:sp>
        <p:nvSpPr>
          <p:cNvPr id="8" name="s11-body-0">
            <a:extLst xmlns:a="http://schemas.openxmlformats.org/drawingml/2006/main">
              <a:ext uri="{FF2B5EF4-FFF2-40B4-BE49-F238E27FC236}">
                <a16:creationId xmlns:a16="http://schemas.microsoft.com/office/drawing/2014/main" id="{EADFF236-3FDD-416A-8E25-EDB7553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680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[用一句话写研究问题与最终答案]</a:t>
            </a:r>
          </a:p>
        </p:txBody>
      </p:sp>
      <p:cxnSp>
        <p:nvCxnSpPr>
          <p:cNvPr id="34" name="s11-rule-0"/>
          <p:cNvCxnSpPr/>
          <p:nvPr/>
        </p:nvCxnSpPr>
        <p:spPr>
          <a:xfrm xmlns:a="http://schemas.openxmlformats.org/drawingml/2006/main">
            <a:off x="609600" y="28575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0" name="s11-num-1">
            <a:extLst xmlns:a="http://schemas.openxmlformats.org/drawingml/2006/main">
              <a:ext uri="{FF2B5EF4-FFF2-40B4-BE49-F238E27FC236}">
                <a16:creationId xmlns:a16="http://schemas.microsoft.com/office/drawing/2014/main" id="{76800230-890E-4B8F-998C-6D04375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11-title-1">
            <a:extLst xmlns:a="http://schemas.openxmlformats.org/drawingml/2006/main">
              <a:ext uri="{FF2B5EF4-FFF2-40B4-BE49-F238E27FC236}">
                <a16:creationId xmlns:a16="http://schemas.microsoft.com/office/drawing/2014/main" id="{C3772F1C-C713-448E-A8CF-B1190A12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证据说明什么</a:t>
            </a:r>
          </a:p>
        </p:txBody>
      </p:sp>
      <p:sp>
        <p:nvSpPr>
          <p:cNvPr id="12" name="s11-body-1">
            <a:extLst xmlns:a="http://schemas.openxmlformats.org/drawingml/2006/main">
              <a:ext uri="{FF2B5EF4-FFF2-40B4-BE49-F238E27FC236}">
                <a16:creationId xmlns:a16="http://schemas.microsoft.com/office/drawing/2014/main" id="{511EDDAA-7AD4-49F8-8345-88C41B1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680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[写最有说服力的定量或定性结果]</a:t>
            </a:r>
          </a:p>
        </p:txBody>
      </p:sp>
      <p:cxnSp>
        <p:nvCxnSpPr>
          <p:cNvPr id="38" name="s11-rule-1"/>
          <p:cNvCxnSpPr/>
          <p:nvPr/>
        </p:nvCxnSpPr>
        <p:spPr>
          <a:xfrm xmlns:a="http://schemas.openxmlformats.org/drawingml/2006/main">
            <a:off x="609600" y="37719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4" name="s11-num-2">
            <a:extLst xmlns:a="http://schemas.openxmlformats.org/drawingml/2006/main">
              <a:ext uri="{FF2B5EF4-FFF2-40B4-BE49-F238E27FC236}">
                <a16:creationId xmlns:a16="http://schemas.microsoft.com/office/drawing/2014/main" id="{63C65E90-9C4B-40A7-973B-0426BBC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11-title-2">
            <a:extLst xmlns:a="http://schemas.openxmlformats.org/drawingml/2006/main">
              <a:ext uri="{FF2B5EF4-FFF2-40B4-BE49-F238E27FC236}">
                <a16:creationId xmlns:a16="http://schemas.microsoft.com/office/drawing/2014/main" id="{819B2378-EECE-448A-805C-1F49C5C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</p:txBody>
      </p:sp>
      <p:sp>
        <p:nvSpPr>
          <p:cNvPr id="16" name="s11-body-2">
            <a:extLst xmlns:a="http://schemas.openxmlformats.org/drawingml/2006/main">
              <a:ext uri="{FF2B5EF4-FFF2-40B4-BE49-F238E27FC236}">
                <a16:creationId xmlns:a16="http://schemas.microsoft.com/office/drawing/2014/main" id="{5DCECB40-AA6A-4B25-9677-64A0529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80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[写对学术或实际应用的意义]</a:t>
            </a:r>
          </a:p>
        </p:txBody>
      </p:sp>
      <p:cxnSp>
        <p:nvCxnSpPr>
          <p:cNvPr id="42" name="s11-rule-2"/>
          <p:cNvCxnSpPr/>
          <p:nvPr/>
        </p:nvCxnSpPr>
        <p:spPr>
          <a:xfrm xmlns:a="http://schemas.openxmlformats.org/drawingml/2006/main">
            <a:off x="609600" y="46863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cxnSp>
      <p:sp>
        <p:nvSpPr>
          <p:cNvPr id="18" name="s11-future-label">
            <a:extLst xmlns:a="http://schemas.openxmlformats.org/drawingml/2006/main">
              <a:ext uri="{FF2B5EF4-FFF2-40B4-BE49-F238E27FC236}">
                <a16:creationId xmlns:a16="http://schemas.microsoft.com/office/drawing/2014/main" id="{4DBFC2A0-BCCC-405E-A262-10B93FB5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cxnSp>
        <p:nvCxnSpPr>
          <p:cNvPr id="44" name="s11-roadmap"/>
          <p:cNvCxnSpPr/>
          <p:nvPr/>
        </p:nvCxnSpPr>
        <p:spPr>
          <a:xfrm xmlns:a="http://schemas.openxmlformats.org/drawingml/2006/main">
            <a:off x="1847850" y="53721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B82F6"/>
            </a:solidFill>
            <a:prstDash val="solid"/>
          </a:ln>
        </p:spPr>
      </p:cxnSp>
      <p:sp>
        <p:nvSpPr>
          <p:cNvPr id="20" name="s11-dot-0">
            <a:extLst xmlns:a="http://schemas.openxmlformats.org/drawingml/2006/main">
              <a:ext uri="{FF2B5EF4-FFF2-40B4-BE49-F238E27FC236}">
                <a16:creationId xmlns:a16="http://schemas.microsoft.com/office/drawing/2014/main" id="{408368BD-0852-44CC-8EC8-7A30255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95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1-dot-1">
            <a:extLst xmlns:a="http://schemas.openxmlformats.org/drawingml/2006/main">
              <a:ext uri="{FF2B5EF4-FFF2-40B4-BE49-F238E27FC236}">
                <a16:creationId xmlns:a16="http://schemas.microsoft.com/office/drawing/2014/main" id="{BEACD1A6-4A3D-4AC5-9DFC-3F914BCB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95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dot-2">
            <a:extLst xmlns:a="http://schemas.openxmlformats.org/drawingml/2006/main">
              <a:ext uri="{FF2B5EF4-FFF2-40B4-BE49-F238E27FC236}">
                <a16:creationId xmlns:a16="http://schemas.microsoft.com/office/drawing/2014/main" id="{976D4F37-A0D6-4BCA-BD8D-AEF8A264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95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1-r1">
            <a:extLst xmlns:a="http://schemas.openxmlformats.org/drawingml/2006/main">
              <a:ext uri="{FF2B5EF4-FFF2-40B4-BE49-F238E27FC236}">
                <a16:creationId xmlns:a16="http://schemas.microsoft.com/office/drawing/2014/main" id="{FB1979B0-9660-418B-9E3B-3F9C000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短期：[补充实验]</a:t>
            </a:r>
          </a:p>
        </p:txBody>
      </p:sp>
      <p:sp>
        <p:nvSpPr>
          <p:cNvPr id="24" name="s11-r2">
            <a:extLst xmlns:a="http://schemas.openxmlformats.org/drawingml/2006/main">
              <a:ext uri="{FF2B5EF4-FFF2-40B4-BE49-F238E27FC236}">
                <a16:creationId xmlns:a16="http://schemas.microsoft.com/office/drawing/2014/main" id="{1EF9E271-4370-437D-BB43-AB3C9D4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638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中期：[系统优化]</a:t>
            </a:r>
          </a:p>
        </p:txBody>
      </p:sp>
      <p:sp>
        <p:nvSpPr>
          <p:cNvPr id="25" name="s11-r3">
            <a:extLst xmlns:a="http://schemas.openxmlformats.org/drawingml/2006/main">
              <a:ext uri="{FF2B5EF4-FFF2-40B4-BE49-F238E27FC236}">
                <a16:creationId xmlns:a16="http://schemas.microsoft.com/office/drawing/2014/main" id="{6696CDDD-0EFF-4C88-85CC-6BC26C1A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38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长期：[真实部署]</a:t>
            </a:r>
          </a:p>
        </p:txBody>
      </p:sp>
    </p:spTree>
    <p:extLst>
      <p:ext uri="{BB962C8B-B14F-4D97-AF65-F5344CB8AC3E}">
        <p14:creationId xmlns:p14="http://schemas.microsoft.com/office/powerpoint/2010/main" val="131204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qa-left-band">
            <a:extLst xmlns:a="http://schemas.openxmlformats.org/drawingml/2006/main">
              <a:ext uri="{FF2B5EF4-FFF2-40B4-BE49-F238E27FC236}">
                <a16:creationId xmlns:a16="http://schemas.microsoft.com/office/drawing/2014/main" id="{411FC341-21F1-44EB-96BE-818A578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a-label">
            <a:extLst xmlns:a="http://schemas.openxmlformats.org/drawingml/2006/main">
              <a:ext uri="{FF2B5EF4-FFF2-40B4-BE49-F238E27FC236}">
                <a16:creationId xmlns:a16="http://schemas.microsoft.com/office/drawing/2014/main" id="{2BE1722D-A3D9-4F35-A432-25E06EC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DISCUSSION</a:t>
            </a:r>
          </a:p>
        </p:txBody>
      </p:sp>
      <p:sp>
        <p:nvSpPr>
          <p:cNvPr id="3" name="qa-title">
            <a:extLst xmlns:a="http://schemas.openxmlformats.org/drawingml/2006/main">
              <a:ext uri="{FF2B5EF4-FFF2-40B4-BE49-F238E27FC236}">
                <a16:creationId xmlns:a16="http://schemas.microsoft.com/office/drawing/2014/main" id="{4D3DC194-6929-4578-B113-A51F63D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6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谢谢，欢迎交流</a:t>
            </a:r>
          </a:p>
        </p:txBody>
      </p:sp>
      <p:sp>
        <p:nvSpPr>
          <p:cNvPr id="4" name="qa-subtitle">
            <a:extLst xmlns:a="http://schemas.openxmlformats.org/drawingml/2006/main">
              <a:ext uri="{FF2B5EF4-FFF2-40B4-BE49-F238E27FC236}">
                <a16:creationId xmlns:a16="http://schemas.microsoft.com/office/drawing/2014/main" id="{F651262C-F874-4431-A6EA-006B5C9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5" name="qa-contact">
            <a:extLst xmlns:a="http://schemas.openxmlformats.org/drawingml/2006/main">
              <a:ext uri="{FF2B5EF4-FFF2-40B4-BE49-F238E27FC236}">
                <a16:creationId xmlns:a16="http://schemas.microsoft.com/office/drawing/2014/main" id="{ADD7E0F8-2869-4A31-9134-259618A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汇报人：[姓名]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邮箱：[name@example.com]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单位：[学校 / 实验室 / 机构]</a:t>
            </a:r>
          </a:p>
        </p:txBody>
      </p:sp>
      <p:sp>
        <p:nvSpPr>
          <p:cNvPr id="6" name="qa-box">
            <a:extLst xmlns:a="http://schemas.openxmlformats.org/drawingml/2006/main">
              <a:ext uri="{FF2B5EF4-FFF2-40B4-BE49-F238E27FC236}">
                <a16:creationId xmlns:a16="http://schemas.microsoft.com/office/drawing/2014/main" id="{651D3A99-94D3-48B8-8B02-9C13AA6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62050"/>
            <a:ext cx="2857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a-box-text">
            <a:extLst xmlns:a="http://schemas.openxmlformats.org/drawingml/2006/main">
              <a:ext uri="{FF2B5EF4-FFF2-40B4-BE49-F238E27FC236}">
                <a16:creationId xmlns:a16="http://schemas.microsoft.com/office/drawing/2014/main" id="{BC8D3F3D-2F4A-43E7-A79C-681713AC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133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[把开场提出的研究问题</a:t>
            </a:r>
          </a:p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再写一遍，便于讨论回到主线]</a:t>
            </a:r>
          </a:p>
        </p:txBody>
      </p:sp>
    </p:spTree>
    <p:extLst>
      <p:ext uri="{BB962C8B-B14F-4D97-AF65-F5344CB8AC3E}">
        <p14:creationId xmlns:p14="http://schemas.microsoft.com/office/powerpoint/2010/main" val="1852369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2026-07-18T07:48:33.7760000Z</dcterms:created>
  <dcterms:modified xsi:type="dcterms:W3CDTF">2026-07-18T07:48:33.7760000Z</dcterms:modified>
</coreProperties>
</file>